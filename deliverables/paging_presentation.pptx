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24a0c93-a3c1-9b04-e10f-118123629150}">
          <p14:sldIdLst>
            <p14:sldId id="256"/>
            <p14:sldId id="257"/>
          </p14:sldIdLst>
        </p14:section>
        <p14:section name="PART 1 · COMPARISON" id="{3e5439ba-76e1-5cf1-931f-8e86f82cfab0}">
          <p14:sldIdLst>
            <p14:sldId id="258"/>
            <p14:sldId id="259"/>
            <p14:sldId id="260"/>
            <p14:sldId id="261"/>
            <p14:sldId id="262"/>
            <p14:sldId id="263"/>
          </p14:sldIdLst>
        </p14:section>
        <p14:section name="PART 2 · OS STUDY" id="{e03e5fc5-c8c0-ff17-b495-26f4c9ac640d}">
          <p14:sldIdLst>
            <p14:sldId id="264"/>
            <p14:sldId id="265"/>
            <p14:sldId id="266"/>
          </p14:sldIdLst>
        </p14:section>
        <p14:section name="PART 3 · WHAT IF" id="{042e8601-527c-0a74-f030-778bdfdd0f79}">
          <p14:sldIdLst>
            <p14:sldId id="267"/>
            <p14:sldId id="268"/>
            <p14:sldId id="269"/>
          </p14:sldIdLst>
        </p14:section>
        <p14:section name="Conclusion" id="{0b4ad363-3523-708e-98eb-8602ca6af64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6202E"/>
                </a:solidFill>
                <a:latin typeface="+mn-lt"/>
              </a:defRPr>
            </a:pPr>
            <a:r>
              <a:rPr sz="1400" b="0" i="0" u="none" strike="noStrike">
                <a:solidFill>
                  <a:srgbClr val="16202E"/>
                </a:solidFill>
                <a:latin typeface="+mn-lt"/>
              </a:rPr>
              <a:t>(a) Latency vs page size</a:t>
            </a:r>
          </a:p>
        </c:rich>
      </c:tx>
      <c:layout/>
      <c:overlay val="0"/>
    </c:title>
    <c:autoTitleDeleted val="0"/>
    <c:plotArea>
      <c:layout/>
      <c:lineChart>
        <c:varyColors val="0"/>
        <c:ser>
          <c:idx val="0"/>
          <c:order val="0"/>
          <c:tx>
            <c:strRef>
              <c:f>Sheet1!$B$1</c:f>
              <c:strCache>
                <c:ptCount val="1"/>
                <c:pt idx="0">
                  <c:v>single-level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b"/>
            <c:showLegendKey val="0"/>
            <c:showVal val="1"/>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Sheet1!$A$2:$A$5</c:f>
              <c:multiLvlStrCache>
                <c:ptCount val="4"/>
                <c:lvl>
                  <c:pt idx="0">
                    <c:v>4 KB</c:v>
                  </c:pt>
                  <c:pt idx="1">
                    <c:v>16 KB</c:v>
                  </c:pt>
                  <c:pt idx="2">
                    <c:v>64 KB</c:v>
                  </c:pt>
                  <c:pt idx="3">
                    <c:v>2 MB</c:v>
                  </c:pt>
                </c:lvl>
              </c:multiLvlStrCache>
            </c:multiLvlStrRef>
          </c:cat>
          <c:val>
            <c:numRef>
              <c:f>Sheet1!$B$2:$B$5</c:f>
              <c:numCache>
                <c:formatCode>General</c:formatCode>
                <c:ptCount val="4"/>
                <c:pt idx="0">
                  <c:v>62.046</c:v>
                </c:pt>
                <c:pt idx="1">
                  <c:v>59.269</c:v>
                </c:pt>
                <c:pt idx="2">
                  <c:v>45.892</c:v>
                </c:pt>
                <c:pt idx="3">
                  <c:v>1.008</c:v>
                </c:pt>
              </c:numCache>
            </c:numRef>
          </c:val>
          <c:smooth val="0"/>
        </c:ser>
        <c:ser>
          <c:idx val="1"/>
          <c:order val="1"/>
          <c:tx>
            <c:strRef>
              <c:f>Sheet1!$C$1</c:f>
              <c:strCache>
                <c:ptCount val="1"/>
                <c:pt idx="0">
                  <c:v>multi-level</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Sheet1!$A$2:$A$5</c:f>
              <c:multiLvlStrCache>
                <c:ptCount val="4"/>
                <c:lvl>
                  <c:pt idx="0">
                    <c:v>4 KB</c:v>
                  </c:pt>
                  <c:pt idx="1">
                    <c:v>16 KB</c:v>
                  </c:pt>
                  <c:pt idx="2">
                    <c:v>64 KB</c:v>
                  </c:pt>
                  <c:pt idx="3">
                    <c:v>2 MB</c:v>
                  </c:pt>
                </c:lvl>
              </c:multiLvlStrCache>
            </c:multiLvlStrRef>
          </c:cat>
          <c:val>
            <c:numRef>
              <c:f>Sheet1!$C$2:$C$5</c:f>
              <c:numCache>
                <c:formatCode>General</c:formatCode>
                <c:ptCount val="4"/>
                <c:pt idx="0">
                  <c:v>245.184</c:v>
                </c:pt>
                <c:pt idx="1">
                  <c:v>234.076</c:v>
                </c:pt>
                <c:pt idx="2">
                  <c:v>135.676</c:v>
                </c:pt>
                <c:pt idx="3">
                  <c:v>1.024</c:v>
                </c:pt>
              </c:numCache>
            </c:numRef>
          </c:val>
          <c:smooth val="0"/>
        </c:ser>
        <c:ser>
          <c:idx val="2"/>
          <c:order val="2"/>
          <c:tx>
            <c:strRef>
              <c:f>Sheet1!$D$1</c:f>
              <c:strCache>
                <c:ptCount val="1"/>
                <c:pt idx="0">
                  <c:v>hashed</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Sheet1!$A$2:$A$5</c:f>
              <c:multiLvlStrCache>
                <c:ptCount val="4"/>
                <c:lvl>
                  <c:pt idx="0">
                    <c:v>4 KB</c:v>
                  </c:pt>
                  <c:pt idx="1">
                    <c:v>16 KB</c:v>
                  </c:pt>
                  <c:pt idx="2">
                    <c:v>64 KB</c:v>
                  </c:pt>
                  <c:pt idx="3">
                    <c:v>2 MB</c:v>
                  </c:pt>
                </c:lvl>
              </c:multiLvlStrCache>
            </c:multiLvlStrRef>
          </c:cat>
          <c:val>
            <c:numRef>
              <c:f>Sheet1!$D$2:$D$5</c:f>
              <c:numCache>
                <c:formatCode>General</c:formatCode>
                <c:ptCount val="4"/>
                <c:pt idx="0">
                  <c:v>68.2566</c:v>
                </c:pt>
                <c:pt idx="1">
                  <c:v>65.0959</c:v>
                </c:pt>
                <c:pt idx="2">
                  <c:v>50.9102</c:v>
                </c:pt>
                <c:pt idx="3">
                  <c:v>1.0088</c:v>
                </c:pt>
              </c:numCache>
            </c:numRef>
          </c:val>
          <c:smooth val="0"/>
        </c:ser>
        <c:ser>
          <c:idx val="3"/>
          <c:order val="3"/>
          <c:tx>
            <c:strRef>
              <c:f>Sheet1!$E$1</c:f>
              <c:strCache>
                <c:ptCount val="1"/>
                <c:pt idx="0">
                  <c:v>inverted</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EDA100"/>
              </a:solidFill>
              <a:ln w="9525" cap="flat">
                <a:solidFill>
                  <a:srgbClr val="EDA100"/>
                </a:solidFill>
                <a:prstDash val="solid"/>
                <a:round/>
              </a:ln>
              <a:effectLst/>
            </c:spPr>
          </c:marker>
          <c:cat>
            <c:multiLvlStrRef>
              <c:f>Sheet1!$A$2:$A$5</c:f>
              <c:multiLvlStrCache>
                <c:ptCount val="4"/>
                <c:lvl>
                  <c:pt idx="0">
                    <c:v>4 KB</c:v>
                  </c:pt>
                  <c:pt idx="1">
                    <c:v>16 KB</c:v>
                  </c:pt>
                  <c:pt idx="2">
                    <c:v>64 KB</c:v>
                  </c:pt>
                  <c:pt idx="3">
                    <c:v>2 MB</c:v>
                  </c:pt>
                </c:lvl>
              </c:multiLvlStrCache>
            </c:multiLvlStrRef>
          </c:cat>
          <c:val>
            <c:numRef>
              <c:f>Sheet1!$E$2:$E$5</c:f>
              <c:numCache>
                <c:formatCode>General</c:formatCode>
                <c:ptCount val="4"/>
                <c:pt idx="0">
                  <c:v>129.4576</c:v>
                </c:pt>
                <c:pt idx="1">
                  <c:v>123.3649</c:v>
                </c:pt>
                <c:pt idx="2">
                  <c:v>95.7442</c:v>
                </c:pt>
                <c:pt idx="3">
                  <c:v>1.0168</c:v>
                </c:pt>
              </c:numCache>
            </c:numRef>
          </c:val>
          <c:smooth val="0"/>
        </c:ser>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4DF"/>
              </a:solidFill>
              <a:prstDash val="solid"/>
              <a:round/>
            </a:ln>
          </c:spPr>
        </c:majorGridlines>
        <c:title>
          <c:tx>
            <c:rich>
              <a:bodyPr/>
              <a:lstStyle/>
              <a:p>
                <a:pPr>
                  <a:defRPr sz="1200" b="0" i="0" u="none" strike="noStrike">
                    <a:solidFill>
                      <a:srgbClr val="4A5460"/>
                    </a:solidFill>
                    <a:latin typeface="+mn-lt"/>
                  </a:defRPr>
                </a:pPr>
                <a:r>
                  <a:rPr sz="1200" b="0" i="0" u="none" strike="noStrike">
                    <a:solidFill>
                      <a:srgbClr val="4A5460"/>
                    </a:solidFill>
                    <a:latin typeface="+mn-lt"/>
                  </a:rPr>
                  <a:t>cycles per access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54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6202E"/>
                </a:solidFill>
                <a:latin typeface="+mn-lt"/>
              </a:defRPr>
            </a:pPr>
            <a:r>
              <a:rPr sz="1400" b="0" i="0" u="none" strike="noStrike">
                <a:solidFill>
                  <a:srgbClr val="16202E"/>
                </a:solidFill>
                <a:latin typeface="+mn-lt"/>
              </a:rPr>
              <a:t>(d) Latency by access pattern</a:t>
            </a:r>
          </a:p>
        </c:rich>
      </c:tx>
      <c:layout/>
      <c:overlay val="0"/>
    </c:title>
    <c:autoTitleDeleted val="0"/>
    <c:plotArea>
      <c:layout/>
      <c:lineChart>
        <c:varyColors val="0"/>
        <c:ser>
          <c:idx val="0"/>
          <c:order val="0"/>
          <c:tx>
            <c:strRef>
              <c:f>Sheet1!$B$1</c:f>
              <c:strCache>
                <c:ptCount val="1"/>
                <c:pt idx="0">
                  <c:v>single-level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b"/>
            <c:showLegendKey val="0"/>
            <c:showVal val="1"/>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Sheet1!$A$2:$A$5</c:f>
              <c:multiLvlStrCache>
                <c:ptCount val="4"/>
                <c:lvl>
                  <c:pt idx="0">
                    <c:v>sequential</c:v>
                  </c:pt>
                  <c:pt idx="1">
                    <c:v>strided</c:v>
                  </c:pt>
                  <c:pt idx="2">
                    <c:v>random</c:v>
                  </c:pt>
                  <c:pt idx="3">
                    <c:v>skewed</c:v>
                  </c:pt>
                </c:lvl>
              </c:multiLvlStrCache>
            </c:multiLvlStrRef>
          </c:cat>
          <c:val>
            <c:numRef>
              <c:f>Sheet1!$B$2:$B$5</c:f>
              <c:numCache>
                <c:formatCode>General</c:formatCode>
                <c:ptCount val="4"/>
                <c:pt idx="0">
                  <c:v>2.563</c:v>
                </c:pt>
                <c:pt idx="1">
                  <c:v>101</c:v>
                </c:pt>
                <c:pt idx="2">
                  <c:v>99.403</c:v>
                </c:pt>
                <c:pt idx="3">
                  <c:v>62.046</c:v>
                </c:pt>
              </c:numCache>
            </c:numRef>
          </c:val>
          <c:smooth val="0"/>
        </c:ser>
        <c:ser>
          <c:idx val="1"/>
          <c:order val="1"/>
          <c:tx>
            <c:strRef>
              <c:f>Sheet1!$C$1</c:f>
              <c:strCache>
                <c:ptCount val="1"/>
                <c:pt idx="0">
                  <c:v>multi-level</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Sheet1!$A$2:$A$5</c:f>
              <c:multiLvlStrCache>
                <c:ptCount val="4"/>
                <c:lvl>
                  <c:pt idx="0">
                    <c:v>sequential</c:v>
                  </c:pt>
                  <c:pt idx="1">
                    <c:v>strided</c:v>
                  </c:pt>
                  <c:pt idx="2">
                    <c:v>random</c:v>
                  </c:pt>
                  <c:pt idx="3">
                    <c:v>skewed</c:v>
                  </c:pt>
                </c:lvl>
              </c:multiLvlStrCache>
            </c:multiLvlStrRef>
          </c:cat>
          <c:val>
            <c:numRef>
              <c:f>Sheet1!$C$2:$C$5</c:f>
              <c:numCache>
                <c:formatCode>General</c:formatCode>
                <c:ptCount val="4"/>
                <c:pt idx="0">
                  <c:v>7.252</c:v>
                </c:pt>
                <c:pt idx="1">
                  <c:v>401</c:v>
                </c:pt>
                <c:pt idx="2">
                  <c:v>394.612</c:v>
                </c:pt>
                <c:pt idx="3">
                  <c:v>245.184</c:v>
                </c:pt>
              </c:numCache>
            </c:numRef>
          </c:val>
          <c:smooth val="0"/>
        </c:ser>
        <c:ser>
          <c:idx val="2"/>
          <c:order val="2"/>
          <c:tx>
            <c:strRef>
              <c:f>Sheet1!$D$1</c:f>
              <c:strCache>
                <c:ptCount val="1"/>
                <c:pt idx="0">
                  <c:v>hashed</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Sheet1!$A$2:$A$5</c:f>
              <c:multiLvlStrCache>
                <c:ptCount val="4"/>
                <c:lvl>
                  <c:pt idx="0">
                    <c:v>sequential</c:v>
                  </c:pt>
                  <c:pt idx="1">
                    <c:v>strided</c:v>
                  </c:pt>
                  <c:pt idx="2">
                    <c:v>random</c:v>
                  </c:pt>
                  <c:pt idx="3">
                    <c:v>skewed</c:v>
                  </c:pt>
                </c:lvl>
              </c:multiLvlStrCache>
            </c:multiLvlStrRef>
          </c:cat>
          <c:val>
            <c:numRef>
              <c:f>Sheet1!$D$2:$D$5</c:f>
              <c:numCache>
                <c:formatCode>General</c:formatCode>
                <c:ptCount val="4"/>
                <c:pt idx="0">
                  <c:v>2.7193</c:v>
                </c:pt>
                <c:pt idx="1">
                  <c:v>111.318</c:v>
                </c:pt>
                <c:pt idx="2">
                  <c:v>109.5813</c:v>
                </c:pt>
                <c:pt idx="3">
                  <c:v>68.2566</c:v>
                </c:pt>
              </c:numCache>
            </c:numRef>
          </c:val>
          <c:smooth val="0"/>
        </c:ser>
        <c:ser>
          <c:idx val="3"/>
          <c:order val="3"/>
          <c:tx>
            <c:strRef>
              <c:f>Sheet1!$E$1</c:f>
              <c:strCache>
                <c:ptCount val="1"/>
                <c:pt idx="0">
                  <c:v>inverted</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EDA100"/>
              </a:solidFill>
              <a:ln w="9525" cap="flat">
                <a:solidFill>
                  <a:srgbClr val="EDA100"/>
                </a:solidFill>
                <a:prstDash val="solid"/>
                <a:round/>
              </a:ln>
              <a:effectLst/>
            </c:spPr>
          </c:marker>
          <c:cat>
            <c:multiLvlStrRef>
              <c:f>Sheet1!$A$2:$A$5</c:f>
              <c:multiLvlStrCache>
                <c:ptCount val="4"/>
                <c:lvl>
                  <c:pt idx="0">
                    <c:v>sequential</c:v>
                  </c:pt>
                  <c:pt idx="1">
                    <c:v>strided</c:v>
                  </c:pt>
                  <c:pt idx="2">
                    <c:v>random</c:v>
                  </c:pt>
                  <c:pt idx="3">
                    <c:v>skewed</c:v>
                  </c:pt>
                </c:lvl>
              </c:multiLvlStrCache>
            </c:multiLvlStrRef>
          </c:cat>
          <c:val>
            <c:numRef>
              <c:f>Sheet1!$E$2:$E$5</c:f>
              <c:numCache>
                <c:formatCode>General</c:formatCode>
                <c:ptCount val="4"/>
                <c:pt idx="0">
                  <c:v>4.2923</c:v>
                </c:pt>
                <c:pt idx="1">
                  <c:v>211.321</c:v>
                </c:pt>
                <c:pt idx="2">
                  <c:v>207.9663</c:v>
                </c:pt>
                <c:pt idx="3">
                  <c:v>129.4576</c:v>
                </c:pt>
              </c:numCache>
            </c:numRef>
          </c:val>
          <c:smooth val="0"/>
        </c:ser>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4DF"/>
              </a:solidFill>
              <a:prstDash val="solid"/>
              <a:round/>
            </a:ln>
          </c:spPr>
        </c:majorGridlines>
        <c:title>
          <c:tx>
            <c:rich>
              <a:bodyPr/>
              <a:lstStyle/>
              <a:p>
                <a:pPr>
                  <a:defRPr sz="1200" b="0" i="0" u="none" strike="noStrike">
                    <a:solidFill>
                      <a:srgbClr val="4A5460"/>
                    </a:solidFill>
                    <a:latin typeface="+mn-lt"/>
                  </a:defRPr>
                </a:pPr>
                <a:r>
                  <a:rPr sz="1200" b="0" i="0" u="none" strike="noStrike">
                    <a:solidFill>
                      <a:srgbClr val="4A5460"/>
                    </a:solidFill>
                    <a:latin typeface="+mn-lt"/>
                  </a:rPr>
                  <a:t>cycles per access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54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6202E"/>
                </a:solidFill>
                <a:latin typeface="+mn-lt"/>
              </a:defRPr>
            </a:pPr>
            <a:r>
              <a:rPr sz="1400" b="0" i="0" u="none" strike="noStrike">
                <a:solidFill>
                  <a:srgbClr val="16202E"/>
                </a:solidFill>
                <a:latin typeface="+mn-lt"/>
              </a:rPr>
              <a:t>(b) TLB hit rate vs TLB size (same for all four tables)</a:t>
            </a:r>
          </a:p>
        </c:rich>
      </c:tx>
      <c:layout/>
      <c:overlay val="0"/>
    </c:title>
    <c:autoTitleDeleted val="0"/>
    <c:plotArea>
      <c:layout/>
      <c:lineChart>
        <c:varyColors val="0"/>
        <c:ser>
          <c:idx val="0"/>
          <c:order val="0"/>
          <c:tx>
            <c:strRef>
              <c:f>Sheet1!$B$1</c:f>
              <c:strCache>
                <c:ptCount val="1"/>
                <c:pt idx="0">
                  <c:v>all four organizations</c:v>
                </c:pt>
              </c:strCache>
            </c:strRef>
          </c:tx>
          <c:spPr>
            <a:solidFill>
              <a:srgbClr val="4A5460"/>
            </a:solidFill>
            <a:ln w="25400" cap="flat">
              <a:solidFill>
                <a:srgbClr val="4A5460"/>
              </a:solidFill>
              <a:prstDash val="solid"/>
              <a:round/>
            </a:ln>
            <a:effectLst/>
          </c:spPr>
          <c:invertIfNegative val="0"/>
          <c:dLbls>
            <c:numFmt formatCode="0.0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4A5460"/>
              </a:solidFill>
              <a:ln w="9525" cap="flat">
                <a:solidFill>
                  <a:srgbClr val="4A5460"/>
                </a:solidFill>
                <a:prstDash val="solid"/>
                <a:round/>
              </a:ln>
              <a:effectLst/>
            </c:spPr>
          </c:marker>
          <c:cat>
            <c:multiLvlStrRef>
              <c:f>Sheet1!$A$2:$A$6</c:f>
              <c:multiLvlStrCache>
                <c:ptCount val="5"/>
                <c:lvl>
                  <c:pt idx="0">
                    <c:v>off</c:v>
                  </c:pt>
                  <c:pt idx="1">
                    <c:v>16</c:v>
                  </c:pt>
                  <c:pt idx="2">
                    <c:v>64</c:v>
                  </c:pt>
                  <c:pt idx="3">
                    <c:v>256</c:v>
                  </c:pt>
                  <c:pt idx="4">
                    <c:v>1024</c:v>
                  </c:pt>
                </c:lvl>
              </c:multiLvlStrCache>
            </c:multiLvlStrRef>
          </c:cat>
          <c:val>
            <c:numRef>
              <c:f>Sheet1!$B$2:$B$6</c:f>
              <c:numCache>
                <c:formatCode>General</c:formatCode>
                <c:ptCount val="5"/>
                <c:pt idx="0">
                  <c:v>0</c:v>
                </c:pt>
                <c:pt idx="1">
                  <c:v>0.21109</c:v>
                </c:pt>
                <c:pt idx="2">
                  <c:v>0.38954</c:v>
                </c:pt>
                <c:pt idx="3">
                  <c:v>0.57669</c:v>
                </c:pt>
                <c:pt idx="4">
                  <c:v>0.77588</c:v>
                </c:pt>
              </c:numCache>
            </c:numRef>
          </c:val>
          <c:smooth val="0"/>
        </c:ser>
        <c:dLbls>
          <c:numFmt formatCode="0.0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6E4DF"/>
              </a:solidFill>
              <a:prstDash val="solid"/>
              <a:round/>
            </a:ln>
          </c:spPr>
        </c:majorGridlines>
        <c:title>
          <c:tx>
            <c:rich>
              <a:bodyPr/>
              <a:lstStyle/>
              <a:p>
                <a:pPr>
                  <a:defRPr sz="1200" b="0" i="0" u="none" strike="noStrike">
                    <a:solidFill>
                      <a:srgbClr val="4A5460"/>
                    </a:solidFill>
                    <a:latin typeface="+mn-lt"/>
                  </a:defRPr>
                </a:pPr>
                <a:r>
                  <a:rPr sz="1200" b="0" i="0" u="none" strike="noStrike">
                    <a:solidFill>
                      <a:srgbClr val="4A5460"/>
                    </a:solidFill>
                    <a:latin typeface="+mn-lt"/>
                  </a:rPr>
                  <a:t>hit rate</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6202E"/>
                </a:solidFill>
                <a:latin typeface="+mn-lt"/>
              </a:defRPr>
            </a:pPr>
            <a:r>
              <a:rPr sz="1400" b="0" i="0" u="none" strike="noStrike">
                <a:solidFill>
                  <a:srgbClr val="16202E"/>
                </a:solidFill>
                <a:latin typeface="+mn-lt"/>
              </a:rPr>
              <a:t>(e) Latency vs number of processes</a:t>
            </a:r>
          </a:p>
        </c:rich>
      </c:tx>
      <c:layout/>
      <c:overlay val="0"/>
    </c:title>
    <c:autoTitleDeleted val="0"/>
    <c:plotArea>
      <c:layout/>
      <c:lineChart>
        <c:varyColors val="0"/>
        <c:ser>
          <c:idx val="0"/>
          <c:order val="0"/>
          <c:tx>
            <c:strRef>
              <c:f>Sheet1!$B$1</c:f>
              <c:strCache>
                <c:ptCount val="1"/>
                <c:pt idx="0">
                  <c:v>single-level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b"/>
            <c:showLegendKey val="0"/>
            <c:showVal val="1"/>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Sheet1!$B$2:$B$6</c:f>
              <c:numCache>
                <c:formatCode>General</c:formatCode>
                <c:ptCount val="5"/>
                <c:pt idx="0">
                  <c:v>62.046</c:v>
                </c:pt>
                <c:pt idx="1">
                  <c:v>62.872</c:v>
                </c:pt>
                <c:pt idx="2">
                  <c:v>62.988</c:v>
                </c:pt>
                <c:pt idx="3">
                  <c:v>62.792</c:v>
                </c:pt>
                <c:pt idx="4">
                  <c:v>62.958</c:v>
                </c:pt>
              </c:numCache>
            </c:numRef>
          </c:val>
          <c:smooth val="0"/>
        </c:ser>
        <c:ser>
          <c:idx val="1"/>
          <c:order val="1"/>
          <c:tx>
            <c:strRef>
              <c:f>Sheet1!$C$1</c:f>
              <c:strCache>
                <c:ptCount val="1"/>
                <c:pt idx="0">
                  <c:v>multi-level</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Sheet1!$C$2:$C$6</c:f>
              <c:numCache>
                <c:formatCode>General</c:formatCode>
                <c:ptCount val="5"/>
                <c:pt idx="0">
                  <c:v>245.184</c:v>
                </c:pt>
                <c:pt idx="1">
                  <c:v>248.488</c:v>
                </c:pt>
                <c:pt idx="2">
                  <c:v>248.952</c:v>
                </c:pt>
                <c:pt idx="3">
                  <c:v>248.168</c:v>
                </c:pt>
                <c:pt idx="4">
                  <c:v>248.832</c:v>
                </c:pt>
              </c:numCache>
            </c:numRef>
          </c:val>
          <c:smooth val="0"/>
        </c:ser>
        <c:ser>
          <c:idx val="2"/>
          <c:order val="2"/>
          <c:tx>
            <c:strRef>
              <c:f>Sheet1!$D$1</c:f>
              <c:strCache>
                <c:ptCount val="1"/>
                <c:pt idx="0">
                  <c:v>hashed</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Sheet1!$D$2:$D$6</c:f>
              <c:numCache>
                <c:formatCode>General</c:formatCode>
                <c:ptCount val="5"/>
                <c:pt idx="0">
                  <c:v>68.2566</c:v>
                </c:pt>
                <c:pt idx="1">
                  <c:v>69.3692</c:v>
                </c:pt>
                <c:pt idx="2">
                  <c:v>70.1908</c:v>
                </c:pt>
                <c:pt idx="3">
                  <c:v>71.2922</c:v>
                </c:pt>
                <c:pt idx="4">
                  <c:v>72.9688</c:v>
                </c:pt>
              </c:numCache>
            </c:numRef>
          </c:val>
          <c:smooth val="0"/>
        </c:ser>
        <c:ser>
          <c:idx val="3"/>
          <c:order val="3"/>
          <c:tx>
            <c:strRef>
              <c:f>Sheet1!$E$1</c:f>
              <c:strCache>
                <c:ptCount val="1"/>
                <c:pt idx="0">
                  <c:v>inverted</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EDA100"/>
              </a:solidFill>
              <a:ln w="9525" cap="flat">
                <a:solidFill>
                  <a:srgbClr val="EDA100"/>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Sheet1!$E$2:$E$6</c:f>
              <c:numCache>
                <c:formatCode>General</c:formatCode>
                <c:ptCount val="5"/>
                <c:pt idx="0">
                  <c:v>129.4576</c:v>
                </c:pt>
                <c:pt idx="1">
                  <c:v>131.5252</c:v>
                </c:pt>
                <c:pt idx="2">
                  <c:v>132.3718</c:v>
                </c:pt>
                <c:pt idx="3">
                  <c:v>132.5752</c:v>
                </c:pt>
                <c:pt idx="4">
                  <c:v>135.2318</c:v>
                </c:pt>
              </c:numCache>
            </c:numRef>
          </c:val>
          <c:smooth val="0"/>
        </c:ser>
        <c:dLbls>
          <c:numFmt formatCode="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4DF"/>
              </a:solidFill>
              <a:prstDash val="solid"/>
              <a:round/>
            </a:ln>
          </c:spPr>
        </c:majorGridlines>
        <c:title>
          <c:tx>
            <c:rich>
              <a:bodyPr/>
              <a:lstStyle/>
              <a:p>
                <a:pPr>
                  <a:defRPr sz="1200" b="0" i="0" u="none" strike="noStrike">
                    <a:solidFill>
                      <a:srgbClr val="4A5460"/>
                    </a:solidFill>
                    <a:latin typeface="+mn-lt"/>
                  </a:defRPr>
                </a:pPr>
                <a:r>
                  <a:rPr sz="1200" b="0" i="0" u="none" strike="noStrike">
                    <a:solidFill>
                      <a:srgbClr val="4A5460"/>
                    </a:solidFill>
                    <a:latin typeface="+mn-lt"/>
                  </a:rPr>
                  <a:t>cycles per access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54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6202E"/>
                </a:solidFill>
                <a:latin typeface="+mn-lt"/>
              </a:defRPr>
            </a:pPr>
            <a:r>
              <a:rPr sz="1400" b="0" i="0" u="none" strike="noStrike">
                <a:solidFill>
                  <a:srgbClr val="16202E"/>
                </a:solidFill>
                <a:latin typeface="+mn-lt"/>
              </a:rPr>
              <a:t>(c) Page-table memory vs memory size</a:t>
            </a:r>
          </a:p>
        </c:rich>
      </c:tx>
      <c:layout/>
      <c:overlay val="0"/>
    </c:title>
    <c:autoTitleDeleted val="0"/>
    <c:plotArea>
      <c:layout/>
      <c:lineChart>
        <c:varyColors val="0"/>
        <c:ser>
          <c:idx val="0"/>
          <c:order val="0"/>
          <c:tx>
            <c:strRef>
              <c:f>Sheet1!$B$1</c:f>
              <c:strCache>
                <c:ptCount val="1"/>
                <c:pt idx="0">
                  <c:v>single-level</c:v>
                </c:pt>
              </c:strCache>
            </c:strRef>
          </c:tx>
          <c:spPr>
            <a:solidFill>
              <a:srgbClr val="2A78D6"/>
            </a:solidFill>
            <a:ln w="25400" cap="flat">
              <a:solidFill>
                <a:srgbClr val="2A78D6"/>
              </a:solidFill>
              <a:prstDash val="solid"/>
              <a:round/>
            </a:ln>
            <a:effectLst/>
          </c:spPr>
          <c:invertIfNegative val="0"/>
          <c:dLbls>
            <c:numFmt formatCode="0.0#" sourceLinked="0"/>
            <c:txPr>
              <a:bodyPr/>
              <a:lstStyle/>
              <a:p>
                <a:pPr>
                  <a:defRPr b="0" i="0" strike="noStrike" sz="1000" u="none">
                    <a:solidFill>
                      <a:srgbClr val="16202E"/>
                    </a:solidFill>
                    <a:latin typeface="+mn-lt"/>
                  </a:defRPr>
                </a:pPr>
              </a:p>
            </c:txPr>
            <c:dLblPos val="l"/>
            <c:showLegendKey val="0"/>
            <c:showVal val="1"/>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Sheet1!$A$2:$A$4</c:f>
              <c:multiLvlStrCache>
                <c:ptCount val="3"/>
                <c:lvl>
                  <c:pt idx="0">
                    <c:v>small</c:v>
                  </c:pt>
                  <c:pt idx="1">
                    <c:v>medium</c:v>
                  </c:pt>
                  <c:pt idx="2">
                    <c:v>large</c:v>
                  </c:pt>
                </c:lvl>
              </c:multiLvlStrCache>
            </c:multiLvlStrRef>
          </c:cat>
          <c:val>
            <c:numRef>
              <c:f>Sheet1!$B$2:$B$4</c:f>
              <c:numCache>
                <c:formatCode>General</c:formatCode>
                <c:ptCount val="3"/>
                <c:pt idx="0">
                  <c:v>2</c:v>
                </c:pt>
                <c:pt idx="1">
                  <c:v>32</c:v>
                </c:pt>
                <c:pt idx="2">
                  <c:v>512</c:v>
                </c:pt>
              </c:numCache>
            </c:numRef>
          </c:val>
          <c:smooth val="0"/>
        </c:ser>
        <c:ser>
          <c:idx val="1"/>
          <c:order val="1"/>
          <c:tx>
            <c:strRef>
              <c:f>Sheet1!$C$1</c:f>
              <c:strCache>
                <c:ptCount val="1"/>
                <c:pt idx="0">
                  <c:v>multi-level</c:v>
                </c:pt>
              </c:strCache>
            </c:strRef>
          </c:tx>
          <c:spPr>
            <a:solidFill>
              <a:srgbClr val="EB6834"/>
            </a:solidFill>
            <a:ln w="25400" cap="flat">
              <a:solidFill>
                <a:srgbClr val="EB6834"/>
              </a:solidFill>
              <a:prstDash val="solid"/>
              <a:round/>
            </a:ln>
            <a:effectLst/>
          </c:spPr>
          <c:invertIfNegative val="0"/>
          <c:dLbls>
            <c:numFmt formatCode="0.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Sheet1!$A$2:$A$4</c:f>
              <c:multiLvlStrCache>
                <c:ptCount val="3"/>
                <c:lvl>
                  <c:pt idx="0">
                    <c:v>small</c:v>
                  </c:pt>
                  <c:pt idx="1">
                    <c:v>medium</c:v>
                  </c:pt>
                  <c:pt idx="2">
                    <c:v>large</c:v>
                  </c:pt>
                </c:lvl>
              </c:multiLvlStrCache>
            </c:multiLvlStrRef>
          </c:cat>
          <c:val>
            <c:numRef>
              <c:f>Sheet1!$C$2:$C$4</c:f>
              <c:numCache>
                <c:formatCode>General</c:formatCode>
                <c:ptCount val="3"/>
                <c:pt idx="0">
                  <c:v>0.04296875</c:v>
                </c:pt>
                <c:pt idx="1">
                  <c:v>0.05859375</c:v>
                </c:pt>
                <c:pt idx="2">
                  <c:v>0.0703125</c:v>
                </c:pt>
              </c:numCache>
            </c:numRef>
          </c:val>
          <c:smooth val="0"/>
        </c:ser>
        <c:ser>
          <c:idx val="2"/>
          <c:order val="2"/>
          <c:tx>
            <c:strRef>
              <c:f>Sheet1!$D$1</c:f>
              <c:strCache>
                <c:ptCount val="1"/>
                <c:pt idx="0">
                  <c:v>hashed</c:v>
                </c:pt>
              </c:strCache>
            </c:strRef>
          </c:tx>
          <c:spPr>
            <a:solidFill>
              <a:srgbClr val="1BAF7A"/>
            </a:solidFill>
            <a:ln w="25400" cap="flat">
              <a:solidFill>
                <a:srgbClr val="1BAF7A"/>
              </a:solidFill>
              <a:prstDash val="solid"/>
              <a:round/>
            </a:ln>
            <a:effectLst/>
          </c:spPr>
          <c:invertIfNegative val="0"/>
          <c:dLbls>
            <c:numFmt formatCode="0.0#" sourceLinked="0"/>
            <c:txPr>
              <a:bodyPr/>
              <a:lstStyle/>
              <a:p>
                <a:pPr>
                  <a:defRPr b="0" i="0" strike="noStrike" sz="1000" u="none">
                    <a:solidFill>
                      <a:srgbClr val="16202E"/>
                    </a:solidFill>
                    <a:latin typeface="+mn-lt"/>
                  </a:defRPr>
                </a:pPr>
              </a:p>
            </c:txPr>
            <c:dLblPos val="b"/>
            <c:showLegendKey val="0"/>
            <c:showVal val="1"/>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Sheet1!$A$2:$A$4</c:f>
              <c:multiLvlStrCache>
                <c:ptCount val="3"/>
                <c:lvl>
                  <c:pt idx="0">
                    <c:v>small</c:v>
                  </c:pt>
                  <c:pt idx="1">
                    <c:v>medium</c:v>
                  </c:pt>
                  <c:pt idx="2">
                    <c:v>large</c:v>
                  </c:pt>
                </c:lvl>
              </c:multiLvlStrCache>
            </c:multiLvlStrRef>
          </c:cat>
          <c:val>
            <c:numRef>
              <c:f>Sheet1!$D$2:$D$4</c:f>
              <c:numCache>
                <c:formatCode>General</c:formatCode>
                <c:ptCount val="3"/>
                <c:pt idx="0">
                  <c:v>0.59375</c:v>
                </c:pt>
                <c:pt idx="1">
                  <c:v>4.09375</c:v>
                </c:pt>
                <c:pt idx="2">
                  <c:v>16.09375</c:v>
                </c:pt>
              </c:numCache>
            </c:numRef>
          </c:val>
          <c:smooth val="0"/>
        </c:ser>
        <c:ser>
          <c:idx val="3"/>
          <c:order val="3"/>
          <c:tx>
            <c:strRef>
              <c:f>Sheet1!$E$1</c:f>
              <c:strCache>
                <c:ptCount val="1"/>
                <c:pt idx="0">
                  <c:v>inverted</c:v>
                </c:pt>
              </c:strCache>
            </c:strRef>
          </c:tx>
          <c:spPr>
            <a:solidFill>
              <a:srgbClr val="EDA100"/>
            </a:solidFill>
            <a:ln w="25400" cap="flat">
              <a:solidFill>
                <a:srgbClr val="EDA100"/>
              </a:solidFill>
              <a:prstDash val="solid"/>
              <a:round/>
            </a:ln>
            <a:effectLst/>
          </c:spPr>
          <c:invertIfNegative val="0"/>
          <c:dLbls>
            <c:numFmt formatCode="0.0#" sourceLinked="0"/>
            <c:txPr>
              <a:bodyPr/>
              <a:lstStyle/>
              <a:p>
                <a:pPr>
                  <a:defRPr b="0" i="0" strike="noStrike" sz="1000" u="none">
                    <a:solidFill>
                      <a:srgbClr val="16202E"/>
                    </a:solidFill>
                    <a:latin typeface="+mn-lt"/>
                  </a:defRPr>
                </a:pPr>
              </a:p>
            </c:txPr>
            <c:dLblPos val="r"/>
            <c:showLegendKey val="0"/>
            <c:showVal val="1"/>
            <c:showCatName val="0"/>
            <c:showSerName val="0"/>
            <c:showPercent val="0"/>
            <c:showBubbleSize val="0"/>
            <c:showLeaderLines val="0"/>
          </c:dLbls>
          <c:marker>
            <c:symbol val="circle"/>
            <c:size val="7"/>
            <c:spPr>
              <a:solidFill>
                <a:srgbClr val="EDA100"/>
              </a:solidFill>
              <a:ln w="9525" cap="flat">
                <a:solidFill>
                  <a:srgbClr val="EDA100"/>
                </a:solidFill>
                <a:prstDash val="solid"/>
                <a:round/>
              </a:ln>
              <a:effectLst/>
            </c:spPr>
          </c:marker>
          <c:cat>
            <c:multiLvlStrRef>
              <c:f>Sheet1!$A$2:$A$4</c:f>
              <c:multiLvlStrCache>
                <c:ptCount val="3"/>
                <c:lvl>
                  <c:pt idx="0">
                    <c:v>small</c:v>
                  </c:pt>
                  <c:pt idx="1">
                    <c:v>medium</c:v>
                  </c:pt>
                  <c:pt idx="2">
                    <c:v>large</c:v>
                  </c:pt>
                </c:lvl>
              </c:multiLvlStrCache>
            </c:multiLvlStrRef>
          </c:cat>
          <c:val>
            <c:numRef>
              <c:f>Sheet1!$E$2:$E$4</c:f>
              <c:numCache>
                <c:formatCode>General</c:formatCode>
                <c:ptCount val="3"/>
                <c:pt idx="0">
                  <c:v>2.5</c:v>
                </c:pt>
                <c:pt idx="1">
                  <c:v>20</c:v>
                </c:pt>
                <c:pt idx="2">
                  <c:v>80</c:v>
                </c:pt>
              </c:numCache>
            </c:numRef>
          </c:val>
          <c:smooth val="0"/>
        </c:ser>
        <c:dLbls>
          <c:numFmt formatCode="0.0#" sourceLinked="0"/>
          <c:txPr>
            <a:bodyPr/>
            <a:lstStyle/>
            <a:p>
              <a:pPr>
                <a:defRPr b="0" i="0" strike="noStrike" sz="1000" u="none">
                  <a:solidFill>
                    <a:srgbClr val="1620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2"/>
        <c:crosses val="autoZero"/>
        <c:auto val="1"/>
        <c:lblAlgn val="ctr"/>
        <c:noMultiLvlLbl val="1"/>
      </c:catAx>
      <c:valAx>
        <c:axId val="2094734552"/>
        <c:scaling>
          <c:logBase val="10"/>
          <c:orientation val="minMax"/>
        </c:scaling>
        <c:delete val="0"/>
        <c:axPos val="l"/>
        <c:majorGridlines>
          <c:spPr>
            <a:ln w="9525" cap="flat">
              <a:solidFill>
                <a:srgbClr val="E6E4DF"/>
              </a:solidFill>
              <a:prstDash val="solid"/>
              <a:round/>
            </a:ln>
          </c:spPr>
        </c:majorGridlines>
        <c:title>
          <c:tx>
            <c:rich>
              <a:bodyPr/>
              <a:lstStyle/>
              <a:p>
                <a:pPr>
                  <a:defRPr sz="1200" b="0" i="0" u="none" strike="noStrike">
                    <a:solidFill>
                      <a:srgbClr val="4A5460"/>
                    </a:solidFill>
                    <a:latin typeface="+mn-lt"/>
                  </a:defRPr>
                </a:pPr>
                <a:r>
                  <a:rPr sz="1200" b="0" i="0" u="none" strike="noStrike">
                    <a:solidFill>
                      <a:srgbClr val="4A5460"/>
                    </a:solidFill>
                    <a:latin typeface="+mn-lt"/>
                  </a:rPr>
                  <a:t>MiB (log scale)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4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54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a simulator comparing four page-table organizations, a study of what real operating systems use, and a what-if analysis of switching. Every latency comes from our cost model, not measured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project is: every memory access needs a translation, and a TLB miss walks the page table: 4 reads on x86-64, 24 when virtualized. We built a simulator to compare page-table organizations, then used it to study real operating systems. What we have done is in the bottom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organizations. Each colour is that organization's colour in every chart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organization replays exactly the same trace, so differences come only from the table. One factor changes at a time from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Single-level is fastest, multi-level smallest. Hashed gets within about 10% of single-level latency with an eighth of its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Graphs a and d. Bigger pages widen TLB reach; at 2 MB the 16 MiB working set fits in 8 entries. The access pattern moves latency by two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b: the hit-rate lines coincide by construction. Graph e: global tables (hashed, inverted) get longer chains as processes are added; per-process tables stay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c, log scale. Small, medium and large are 1, 16 and 256 GiB of address span with 0.5, 4 and 16 GiB of RAM: 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finding of the OS study. On x86-64 and Arm the MMU walks a radix tree in hardware, so every OS uses it. What each OS really chooses is the page size. POWER9 is the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OS's page-size choice, why, and what it gains and loses. Android's numbers are Google's own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moved Linux on POWER from a hashed table to a radix tree. Our model favours hashed, but IBM chose radix for cache behaviour our model does not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OS re-run with the other three organizations. Shown for the 4 KB x86-64 and Arm systems, which give identical results. Lower latency, far more memory, and the CPU would not walk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OS re-run at its alternative page size. Larger pages buy latency with rounding waste; smaller pages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CPUs cache the upper radix levels, so most misses cost one or two reads, not four. Our model charges every read the full 100 cycles. Direction agrees, size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conclusion per part of the project, then the limits of the model and what we would do next. The interactive simulator (streamlit run app.py) has OS study and What-if tabs.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8288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64240" cy="68580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8A93A0"/>
                </a:solidFill>
              </a:rPr>
              <a:t>Comparative Analysis of Memory Translation Architectures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6949440" cy="365760"/>
          </a:xfrm>
          <a:prstGeom prst="rect">
            <a:avLst/>
          </a:prstGeom>
          <a:noFill/>
          <a:ln/>
        </p:spPr>
        <p:txBody>
          <a:bodyPr wrap="square" lIns="0" tIns="0" rIns="0" bIns="0" rtlCol="0" anchor="t"/>
          <a:lstStyle/>
          <a:p>
            <a:pPr indent="0" marL="0">
              <a:buNone/>
            </a:pPr>
            <a:r>
              <a:rPr lang="en-US" sz="1400" b="1" spc="200" kern="0" dirty="0">
                <a:solidFill>
                  <a:srgbClr val="F0A35E"/>
                </a:solidFill>
              </a:rPr>
              <a:t>OPERATING SYSTEMS COURSE PROJECT (B2 + TB2)</a:t>
            </a:r>
            <a:endParaRPr lang="en-US" sz="1400" dirty="0"/>
          </a:p>
        </p:txBody>
      </p:sp>
      <p:sp>
        <p:nvSpPr>
          <p:cNvPr id="3" name="Text 0"/>
          <p:cNvSpPr/>
          <p:nvPr>
            <p:ph idx="100" type="title" hasCustomPrompt="1"/>
          </p:nvPr>
        </p:nvSpPr>
        <p:spPr>
          <a:xfrm>
            <a:off x="731520" y="1371600"/>
            <a:ext cx="10698480" cy="18288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Comparative Analysis of Traditional and Modern Memory Translation Architectures</a:t>
            </a:r>
            <a:endParaRPr lang="en-US" sz="4000" dirty="0"/>
          </a:p>
        </p:txBody>
      </p:sp>
      <p:sp>
        <p:nvSpPr>
          <p:cNvPr id="4" name="Text 2"/>
          <p:cNvSpPr txBox="1"/>
          <p:nvPr/>
        </p:nvSpPr>
        <p:spPr>
          <a:xfrm>
            <a:off x="731520" y="3246120"/>
            <a:ext cx="10058400" cy="822960"/>
          </a:xfrm>
          <a:prstGeom prst="rect">
            <a:avLst/>
          </a:prstGeom>
          <a:noFill/>
          <a:ln/>
        </p:spPr>
        <p:txBody>
          <a:bodyPr wrap="square" lIns="0" tIns="0" rIns="0" bIns="0" rtlCol="0" anchor="t"/>
          <a:lstStyle/>
          <a:p>
            <a:pPr indent="0" marL="0">
              <a:buNone/>
            </a:pPr>
            <a:r>
              <a:rPr lang="en-US" sz="2000" dirty="0">
                <a:solidFill>
                  <a:srgbClr val="C9D1DB"/>
                </a:solidFill>
              </a:rPr>
              <a:t>Which page table is best, what real operating systems use and why, and what they would gain or lose by switching.</a:t>
            </a:r>
            <a:endParaRPr lang="en-US" sz="2000" dirty="0"/>
          </a:p>
        </p:txBody>
      </p:sp>
      <p:sp>
        <p:nvSpPr>
          <p:cNvPr id="5" name="Text 3"/>
          <p:cNvSpPr txBox="1"/>
          <p:nvPr/>
        </p:nvSpPr>
        <p:spPr>
          <a:xfrm>
            <a:off x="731520" y="4480560"/>
            <a:ext cx="5486400" cy="1097280"/>
          </a:xfrm>
          <a:prstGeom prst="rect">
            <a:avLst/>
          </a:prstGeom>
          <a:noFill/>
          <a:ln/>
        </p:spPr>
        <p:txBody>
          <a:bodyPr wrap="square" lIns="0" tIns="0" rIns="0" bIns="0" rtlCol="0" anchor="t"/>
          <a:lstStyle/>
          <a:p>
            <a:pPr indent="0" marL="0">
              <a:spcAft>
                <a:spcPts val="400"/>
              </a:spcAft>
              <a:buNone/>
            </a:pPr>
            <a:r>
              <a:rPr lang="en-US" sz="1600" dirty="0">
                <a:solidFill>
                  <a:srgbClr val="FFFFFF"/>
                </a:solidFill>
              </a:rPr>
              <a:t>Akhilesh Regmi   24BCE2934</a:t>
            </a:r>
            <a:endParaRPr lang="en-US" sz="1600" dirty="0"/>
          </a:p>
          <a:p>
            <a:pPr indent="0" marL="0">
              <a:spcAft>
                <a:spcPts val="400"/>
              </a:spcAft>
              <a:buNone/>
            </a:pPr>
            <a:r>
              <a:rPr lang="en-US" sz="1600" dirty="0">
                <a:solidFill>
                  <a:srgbClr val="FFFFFF"/>
                </a:solidFill>
              </a:rPr>
              <a:t>Swayam Raj Pandey   24BCE2933</a:t>
            </a:r>
            <a:endParaRPr lang="en-US" sz="1600" dirty="0"/>
          </a:p>
          <a:p>
            <a:pPr indent="0" marL="0">
              <a:spcAft>
                <a:spcPts val="400"/>
              </a:spcAft>
              <a:buNone/>
            </a:pPr>
            <a:r>
              <a:rPr lang="en-US" sz="1600" dirty="0">
                <a:solidFill>
                  <a:srgbClr val="FFFFFF"/>
                </a:solidFill>
              </a:rPr>
              <a:t>Aamarsh Raj Shakya   24BDS0449</a:t>
            </a:r>
            <a:endParaRPr lang="en-US" sz="1600" dirty="0"/>
          </a:p>
        </p:txBody>
      </p:sp>
      <p:sp>
        <p:nvSpPr>
          <p:cNvPr id="6" name="Text 4"/>
          <p:cNvSpPr txBox="1"/>
          <p:nvPr/>
        </p:nvSpPr>
        <p:spPr>
          <a:xfrm>
            <a:off x="6766560" y="4480560"/>
            <a:ext cx="4572000" cy="274320"/>
          </a:xfrm>
          <a:prstGeom prst="rect">
            <a:avLst/>
          </a:prstGeom>
          <a:noFill/>
          <a:ln/>
        </p:spPr>
        <p:txBody>
          <a:bodyPr wrap="square" lIns="0" tIns="0" rIns="0" bIns="0" rtlCol="0" anchor="t"/>
          <a:lstStyle/>
          <a:p>
            <a:pPr indent="0" marL="0">
              <a:buNone/>
            </a:pPr>
            <a:r>
              <a:rPr lang="en-US" sz="1200" b="1" spc="200" kern="0" dirty="0">
                <a:solidFill>
                  <a:srgbClr val="F0A35E"/>
                </a:solidFill>
              </a:rPr>
              <a:t>UNDER THE GUIDANCE OF</a:t>
            </a:r>
            <a:endParaRPr lang="en-US" sz="1200" dirty="0"/>
          </a:p>
        </p:txBody>
      </p:sp>
      <p:sp>
        <p:nvSpPr>
          <p:cNvPr id="7" name="Text 5"/>
          <p:cNvSpPr txBox="1"/>
          <p:nvPr/>
        </p:nvSpPr>
        <p:spPr>
          <a:xfrm>
            <a:off x="6766560" y="4800600"/>
            <a:ext cx="4572000" cy="411480"/>
          </a:xfrm>
          <a:prstGeom prst="rect">
            <a:avLst/>
          </a:prstGeom>
          <a:noFill/>
          <a:ln/>
        </p:spPr>
        <p:txBody>
          <a:bodyPr wrap="square" lIns="0" tIns="0" rIns="0" bIns="0" rtlCol="0" anchor="t"/>
          <a:lstStyle/>
          <a:p>
            <a:pPr indent="0" marL="0">
              <a:buNone/>
            </a:pPr>
            <a:r>
              <a:rPr lang="en-US" sz="2000" b="1" dirty="0">
                <a:solidFill>
                  <a:srgbClr val="FFFFFF"/>
                </a:solidFill>
              </a:rPr>
              <a:t>Prof. Manivannan P</a:t>
            </a:r>
            <a:endParaRPr lang="en-US" sz="2000" dirty="0"/>
          </a:p>
        </p:txBody>
      </p:sp>
      <p:sp>
        <p:nvSpPr>
          <p:cNvPr id="8" name="Shape 6"/>
          <p:cNvSpPr/>
          <p:nvPr/>
        </p:nvSpPr>
        <p:spPr>
          <a:xfrm>
            <a:off x="8412480" y="320040"/>
            <a:ext cx="3200400" cy="914400"/>
          </a:xfrm>
          <a:prstGeom prst="roundRect">
            <a:avLst>
              <a:gd name="adj" fmla="val 8000"/>
            </a:avLst>
          </a:prstGeom>
          <a:solidFill>
            <a:srgbClr val="FFFFFF"/>
          </a:solidFill>
          <a:ln w="12700">
            <a:solidFill>
              <a:srgbClr val="FFFFFF"/>
            </a:solidFill>
            <a:prstDash val="solid"/>
          </a:ln>
        </p:spPr>
      </p:sp>
      <p:pic>
        <p:nvPicPr>
          <p:cNvPr id="9" name="Image 0" descr="Vellore Institute of Technology logo">    </p:cNvPr>
          <p:cNvPicPr>
            <a:picLocks noChangeAspect="1"/>
          </p:cNvPicPr>
          <p:nvPr/>
        </p:nvPicPr>
        <p:blipFill>
          <a:blip r:embed="rId1"/>
          <a:stretch>
            <a:fillRect/>
          </a:stretch>
        </p:blipFill>
        <p:spPr>
          <a:xfrm>
            <a:off x="8549640" y="411480"/>
            <a:ext cx="2926080" cy="786384"/>
          </a:xfrm>
          <a:prstGeom prst="rect">
            <a:avLst/>
          </a:prstGeom>
        </p:spPr>
      </p:pic>
      <p:sp>
        <p:nvSpPr>
          <p:cNvPr id="10" name="Text 7"/>
          <p:cNvSpPr txBox="1"/>
          <p:nvPr/>
        </p:nvSpPr>
        <p:spPr>
          <a:xfrm>
            <a:off x="731520" y="6172200"/>
            <a:ext cx="10698480" cy="320040"/>
          </a:xfrm>
          <a:prstGeom prst="rect">
            <a:avLst/>
          </a:prstGeom>
          <a:noFill/>
          <a:ln/>
        </p:spPr>
        <p:txBody>
          <a:bodyPr wrap="square" lIns="0" tIns="0" rIns="0" bIns="0" rtlCol="0" anchor="t"/>
          <a:lstStyle/>
          <a:p>
            <a:pPr indent="0" marL="0">
              <a:buNone/>
            </a:pPr>
            <a:r>
              <a:rPr lang="en-US" sz="1200" dirty="0">
                <a:solidFill>
                  <a:srgbClr val="9AA6B4"/>
                </a:solidFill>
              </a:rPr>
              <a:t>All latencies are modelled cycles from a stated cost model, not hardware measurements.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Introduction: what this project is</a:t>
            </a:r>
            <a:endParaRPr lang="en-US" sz="3000" dirty="0"/>
          </a:p>
        </p:txBody>
      </p:sp>
      <p:sp>
        <p:nvSpPr>
          <p:cNvPr id="4" name="Text 1"/>
          <p:cNvSpPr txBox="1"/>
          <p:nvPr/>
        </p:nvSpPr>
        <p:spPr>
          <a:xfrm>
            <a:off x="548640" y="1554480"/>
            <a:ext cx="11064240" cy="777240"/>
          </a:xfrm>
          <a:prstGeom prst="rect">
            <a:avLst/>
          </a:prstGeom>
          <a:noFill/>
          <a:ln/>
        </p:spPr>
        <p:txBody>
          <a:bodyPr wrap="square" lIns="0" tIns="0" rIns="0" bIns="0" rtlCol="0" anchor="t"/>
          <a:lstStyle/>
          <a:p>
            <a:pPr indent="0" marL="0">
              <a:buNone/>
            </a:pPr>
            <a:r>
              <a:rPr lang="en-US" sz="1700" dirty="0">
                <a:solidFill>
                  <a:schemeClr val="tx1"/>
                </a:solidFill>
              </a:rPr>
              <a:t>Every memory access needs its virtual address translated. When the TLB misses, the page table is walked in memory: 4 reads on x86-64, up to 24 when virtualized. How the table is organized sets that cost. We asked three questions:</a:t>
            </a:r>
            <a:endParaRPr lang="en-US" sz="1700" dirty="0"/>
          </a:p>
        </p:txBody>
      </p:sp>
      <p:sp>
        <p:nvSpPr>
          <p:cNvPr id="5" name="Shape 2"/>
          <p:cNvSpPr/>
          <p:nvPr/>
        </p:nvSpPr>
        <p:spPr>
          <a:xfrm>
            <a:off x="548640" y="2468880"/>
            <a:ext cx="3566160" cy="1600200"/>
          </a:xfrm>
          <a:prstGeom prst="roundRect">
            <a:avLst>
              <a:gd name="adj" fmla="val 4571"/>
            </a:avLst>
          </a:prstGeom>
          <a:solidFill>
            <a:schemeClr val="bg2"/>
          </a:solidFill>
          <a:ln w="12700">
            <a:solidFill>
              <a:schemeClr val="bg2"/>
            </a:solidFill>
            <a:prstDash val="solid"/>
          </a:ln>
        </p:spPr>
      </p:sp>
      <p:sp>
        <p:nvSpPr>
          <p:cNvPr id="6" name="Shape 3"/>
          <p:cNvSpPr/>
          <p:nvPr/>
        </p:nvSpPr>
        <p:spPr>
          <a:xfrm>
            <a:off x="777240" y="265176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77240" y="265176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8" name="Text 5"/>
          <p:cNvSpPr txBox="1"/>
          <p:nvPr/>
        </p:nvSpPr>
        <p:spPr>
          <a:xfrm>
            <a:off x="1371600" y="2697480"/>
            <a:ext cx="25603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Comparison</a:t>
            </a:r>
            <a:endParaRPr lang="en-US" sz="2000" dirty="0"/>
          </a:p>
        </p:txBody>
      </p:sp>
      <p:sp>
        <p:nvSpPr>
          <p:cNvPr id="9" name="Text 6"/>
          <p:cNvSpPr txBox="1"/>
          <p:nvPr/>
        </p:nvSpPr>
        <p:spPr>
          <a:xfrm>
            <a:off x="777240" y="3246120"/>
            <a:ext cx="3108960" cy="731520"/>
          </a:xfrm>
          <a:prstGeom prst="rect">
            <a:avLst/>
          </a:prstGeom>
          <a:noFill/>
          <a:ln/>
        </p:spPr>
        <p:txBody>
          <a:bodyPr wrap="square" lIns="0" tIns="0" rIns="0" bIns="0" rtlCol="0" anchor="t"/>
          <a:lstStyle/>
          <a:p>
            <a:pPr indent="0" marL="0">
              <a:buNone/>
            </a:pPr>
            <a:r>
              <a:rPr lang="en-US" sz="1500" dirty="0">
                <a:solidFill>
                  <a:schemeClr val="tx2"/>
                </a:solidFill>
              </a:rPr>
              <a:t>Which of four page-table organizations performs best, and when?</a:t>
            </a:r>
            <a:endParaRPr lang="en-US" sz="1500" dirty="0"/>
          </a:p>
        </p:txBody>
      </p:sp>
      <p:sp>
        <p:nvSpPr>
          <p:cNvPr id="10" name="Shape 7"/>
          <p:cNvSpPr/>
          <p:nvPr/>
        </p:nvSpPr>
        <p:spPr>
          <a:xfrm>
            <a:off x="4297680" y="2468880"/>
            <a:ext cx="3566160" cy="1600200"/>
          </a:xfrm>
          <a:prstGeom prst="roundRect">
            <a:avLst>
              <a:gd name="adj" fmla="val 4571"/>
            </a:avLst>
          </a:prstGeom>
          <a:solidFill>
            <a:schemeClr val="bg2"/>
          </a:solidFill>
          <a:ln w="12700">
            <a:solidFill>
              <a:schemeClr val="bg2"/>
            </a:solidFill>
            <a:prstDash val="solid"/>
          </a:ln>
        </p:spPr>
      </p:sp>
      <p:sp>
        <p:nvSpPr>
          <p:cNvPr id="11" name="Shape 8"/>
          <p:cNvSpPr/>
          <p:nvPr/>
        </p:nvSpPr>
        <p:spPr>
          <a:xfrm>
            <a:off x="4526280" y="265176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4526280" y="265176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Text 10"/>
          <p:cNvSpPr txBox="1"/>
          <p:nvPr/>
        </p:nvSpPr>
        <p:spPr>
          <a:xfrm>
            <a:off x="5120640" y="2697480"/>
            <a:ext cx="25603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OS study</a:t>
            </a:r>
            <a:endParaRPr lang="en-US" sz="2000" dirty="0"/>
          </a:p>
        </p:txBody>
      </p:sp>
      <p:sp>
        <p:nvSpPr>
          <p:cNvPr id="14" name="Text 11"/>
          <p:cNvSpPr txBox="1"/>
          <p:nvPr/>
        </p:nvSpPr>
        <p:spPr>
          <a:xfrm>
            <a:off x="4526280" y="3246120"/>
            <a:ext cx="3108960" cy="731520"/>
          </a:xfrm>
          <a:prstGeom prst="rect">
            <a:avLst/>
          </a:prstGeom>
          <a:noFill/>
          <a:ln/>
        </p:spPr>
        <p:txBody>
          <a:bodyPr wrap="square" lIns="0" tIns="0" rIns="0" bIns="0" rtlCol="0" anchor="t"/>
          <a:lstStyle/>
          <a:p>
            <a:pPr indent="0" marL="0">
              <a:buNone/>
            </a:pPr>
            <a:r>
              <a:rPr lang="en-US" sz="1500" dirty="0">
                <a:solidFill>
                  <a:schemeClr val="tx2"/>
                </a:solidFill>
              </a:rPr>
              <a:t>What do Windows, Linux, macOS and Android use, and why?</a:t>
            </a:r>
            <a:endParaRPr lang="en-US" sz="1500" dirty="0"/>
          </a:p>
        </p:txBody>
      </p:sp>
      <p:sp>
        <p:nvSpPr>
          <p:cNvPr id="15" name="Shape 12"/>
          <p:cNvSpPr/>
          <p:nvPr/>
        </p:nvSpPr>
        <p:spPr>
          <a:xfrm>
            <a:off x="8046720" y="2468880"/>
            <a:ext cx="3566160" cy="1600200"/>
          </a:xfrm>
          <a:prstGeom prst="roundRect">
            <a:avLst>
              <a:gd name="adj" fmla="val 4571"/>
            </a:avLst>
          </a:prstGeom>
          <a:solidFill>
            <a:schemeClr val="bg2"/>
          </a:solidFill>
          <a:ln w="12700">
            <a:solidFill>
              <a:schemeClr val="bg2"/>
            </a:solidFill>
            <a:prstDash val="solid"/>
          </a:ln>
        </p:spPr>
      </p:sp>
      <p:sp>
        <p:nvSpPr>
          <p:cNvPr id="16" name="Shape 13"/>
          <p:cNvSpPr/>
          <p:nvPr/>
        </p:nvSpPr>
        <p:spPr>
          <a:xfrm>
            <a:off x="8275320" y="265176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8275320" y="265176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8" name="Text 15"/>
          <p:cNvSpPr txBox="1"/>
          <p:nvPr/>
        </p:nvSpPr>
        <p:spPr>
          <a:xfrm>
            <a:off x="8869680" y="2697480"/>
            <a:ext cx="25603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if</a:t>
            </a:r>
            <a:endParaRPr lang="en-US" sz="2000" dirty="0"/>
          </a:p>
        </p:txBody>
      </p:sp>
      <p:sp>
        <p:nvSpPr>
          <p:cNvPr id="19" name="Text 16"/>
          <p:cNvSpPr txBox="1"/>
          <p:nvPr/>
        </p:nvSpPr>
        <p:spPr>
          <a:xfrm>
            <a:off x="8275320" y="3246120"/>
            <a:ext cx="3108960" cy="731520"/>
          </a:xfrm>
          <a:prstGeom prst="rect">
            <a:avLst/>
          </a:prstGeom>
          <a:noFill/>
          <a:ln/>
        </p:spPr>
        <p:txBody>
          <a:bodyPr wrap="square" lIns="0" tIns="0" rIns="0" bIns="0" rtlCol="0" anchor="t"/>
          <a:lstStyle/>
          <a:p>
            <a:pPr indent="0" marL="0">
              <a:buNone/>
            </a:pPr>
            <a:r>
              <a:rPr lang="en-US" sz="1500" dirty="0">
                <a:solidFill>
                  <a:schemeClr val="tx2"/>
                </a:solidFill>
              </a:rPr>
              <a:t>What would each OS gain or lose by switching technique?</a:t>
            </a:r>
            <a:endParaRPr lang="en-US" sz="1500" dirty="0"/>
          </a:p>
        </p:txBody>
      </p:sp>
      <p:sp>
        <p:nvSpPr>
          <p:cNvPr id="20" name="Text 17"/>
          <p:cNvSpPr txBox="1"/>
          <p:nvPr/>
        </p:nvSpPr>
        <p:spPr>
          <a:xfrm>
            <a:off x="548640" y="4343400"/>
            <a:ext cx="54864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WHAT WE HAVE DONE</a:t>
            </a:r>
            <a:endParaRPr lang="en-US" sz="1200" dirty="0"/>
          </a:p>
        </p:txBody>
      </p:sp>
      <p:sp>
        <p:nvSpPr>
          <p:cNvPr id="21" name="Text 18"/>
          <p:cNvSpPr txBox="1"/>
          <p:nvPr/>
        </p:nvSpPr>
        <p:spPr>
          <a:xfrm>
            <a:off x="548640" y="4663440"/>
            <a:ext cx="210312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4</a:t>
            </a:r>
            <a:endParaRPr lang="en-US" sz="4400" dirty="0"/>
          </a:p>
        </p:txBody>
      </p:sp>
      <p:sp>
        <p:nvSpPr>
          <p:cNvPr id="22" name="Text 19"/>
          <p:cNvSpPr txBox="1"/>
          <p:nvPr/>
        </p:nvSpPr>
        <p:spPr>
          <a:xfrm>
            <a:off x="548640" y="5394960"/>
            <a:ext cx="2057400" cy="731520"/>
          </a:xfrm>
          <a:prstGeom prst="rect">
            <a:avLst/>
          </a:prstGeom>
          <a:noFill/>
          <a:ln/>
        </p:spPr>
        <p:txBody>
          <a:bodyPr wrap="square" lIns="0" tIns="0" rIns="0" bIns="0" rtlCol="0" anchor="t"/>
          <a:lstStyle/>
          <a:p>
            <a:pPr indent="0" marL="0">
              <a:buNone/>
            </a:pPr>
            <a:r>
              <a:rPr lang="en-US" sz="1400" dirty="0">
                <a:solidFill>
                  <a:schemeClr val="tx1"/>
                </a:solidFill>
              </a:rPr>
              <a:t>page tables built and walked for real, behind one shared TLB</a:t>
            </a:r>
            <a:endParaRPr lang="en-US" sz="1400" dirty="0"/>
          </a:p>
        </p:txBody>
      </p:sp>
      <p:sp>
        <p:nvSpPr>
          <p:cNvPr id="23" name="Text 20"/>
          <p:cNvSpPr txBox="1"/>
          <p:nvPr/>
        </p:nvSpPr>
        <p:spPr>
          <a:xfrm>
            <a:off x="2788920" y="4663440"/>
            <a:ext cx="210312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24" name="Text 21"/>
          <p:cNvSpPr txBox="1"/>
          <p:nvPr/>
        </p:nvSpPr>
        <p:spPr>
          <a:xfrm>
            <a:off x="2788920" y="5394960"/>
            <a:ext cx="2057400" cy="731520"/>
          </a:xfrm>
          <a:prstGeom prst="rect">
            <a:avLst/>
          </a:prstGeom>
          <a:noFill/>
          <a:ln/>
        </p:spPr>
        <p:txBody>
          <a:bodyPr wrap="square" lIns="0" tIns="0" rIns="0" bIns="0" rtlCol="0" anchor="t"/>
          <a:lstStyle/>
          <a:p>
            <a:pPr indent="0" marL="0">
              <a:buNone/>
            </a:pPr>
            <a:r>
              <a:rPr lang="en-US" sz="1400" dirty="0">
                <a:solidFill>
                  <a:schemeClr val="tx1"/>
                </a:solidFill>
              </a:rPr>
              <a:t>parameter sweeps, one graph each</a:t>
            </a:r>
            <a:endParaRPr lang="en-US" sz="1400" dirty="0"/>
          </a:p>
        </p:txBody>
      </p:sp>
      <p:sp>
        <p:nvSpPr>
          <p:cNvPr id="25" name="Text 22"/>
          <p:cNvSpPr txBox="1"/>
          <p:nvPr/>
        </p:nvSpPr>
        <p:spPr>
          <a:xfrm>
            <a:off x="5029200" y="4663440"/>
            <a:ext cx="210312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6</a:t>
            </a:r>
            <a:endParaRPr lang="en-US" sz="4400" dirty="0"/>
          </a:p>
        </p:txBody>
      </p:sp>
      <p:sp>
        <p:nvSpPr>
          <p:cNvPr id="26" name="Text 23"/>
          <p:cNvSpPr txBox="1"/>
          <p:nvPr/>
        </p:nvSpPr>
        <p:spPr>
          <a:xfrm>
            <a:off x="5029200" y="5394960"/>
            <a:ext cx="2057400" cy="731520"/>
          </a:xfrm>
          <a:prstGeom prst="rect">
            <a:avLst/>
          </a:prstGeom>
          <a:noFill/>
          <a:ln/>
        </p:spPr>
        <p:txBody>
          <a:bodyPr wrap="square" lIns="0" tIns="0" rIns="0" bIns="0" rtlCol="0" anchor="t"/>
          <a:lstStyle/>
          <a:p>
            <a:pPr indent="0" marL="0">
              <a:buNone/>
            </a:pPr>
            <a:r>
              <a:rPr lang="en-US" sz="1400" dirty="0">
                <a:solidFill>
                  <a:schemeClr val="tx1"/>
                </a:solidFill>
              </a:rPr>
              <a:t>OS platforms studied from documentation</a:t>
            </a:r>
            <a:endParaRPr lang="en-US" sz="1400" dirty="0"/>
          </a:p>
        </p:txBody>
      </p:sp>
      <p:sp>
        <p:nvSpPr>
          <p:cNvPr id="27" name="Text 24"/>
          <p:cNvSpPr txBox="1"/>
          <p:nvPr/>
        </p:nvSpPr>
        <p:spPr>
          <a:xfrm>
            <a:off x="7269480" y="4663440"/>
            <a:ext cx="210312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60</a:t>
            </a:r>
            <a:endParaRPr lang="en-US" sz="4400" dirty="0"/>
          </a:p>
        </p:txBody>
      </p:sp>
      <p:sp>
        <p:nvSpPr>
          <p:cNvPr id="28" name="Text 25"/>
          <p:cNvSpPr txBox="1"/>
          <p:nvPr/>
        </p:nvSpPr>
        <p:spPr>
          <a:xfrm>
            <a:off x="7269480" y="5394960"/>
            <a:ext cx="2057400" cy="731520"/>
          </a:xfrm>
          <a:prstGeom prst="rect">
            <a:avLst/>
          </a:prstGeom>
          <a:noFill/>
          <a:ln/>
        </p:spPr>
        <p:txBody>
          <a:bodyPr wrap="square" lIns="0" tIns="0" rIns="0" bIns="0" rtlCol="0" anchor="t"/>
          <a:lstStyle/>
          <a:p>
            <a:pPr indent="0" marL="0">
              <a:buNone/>
            </a:pPr>
            <a:r>
              <a:rPr lang="en-US" sz="1400" dirty="0">
                <a:solidFill>
                  <a:schemeClr val="tx1"/>
                </a:solidFill>
              </a:rPr>
              <a:t>what-if runs across those platforms</a:t>
            </a:r>
            <a:endParaRPr lang="en-US" sz="1400" dirty="0"/>
          </a:p>
        </p:txBody>
      </p:sp>
      <p:sp>
        <p:nvSpPr>
          <p:cNvPr id="29" name="Text 26"/>
          <p:cNvSpPr txBox="1"/>
          <p:nvPr/>
        </p:nvSpPr>
        <p:spPr>
          <a:xfrm>
            <a:off x="9509760" y="4663440"/>
            <a:ext cx="210312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65</a:t>
            </a:r>
            <a:endParaRPr lang="en-US" sz="4400" dirty="0"/>
          </a:p>
        </p:txBody>
      </p:sp>
      <p:sp>
        <p:nvSpPr>
          <p:cNvPr id="30" name="Text 27"/>
          <p:cNvSpPr txBox="1"/>
          <p:nvPr/>
        </p:nvSpPr>
        <p:spPr>
          <a:xfrm>
            <a:off x="9509760" y="5394960"/>
            <a:ext cx="2057400" cy="731520"/>
          </a:xfrm>
          <a:prstGeom prst="rect">
            <a:avLst/>
          </a:prstGeom>
          <a:noFill/>
          <a:ln/>
        </p:spPr>
        <p:txBody>
          <a:bodyPr wrap="square" lIns="0" tIns="0" rIns="0" bIns="0" rtlCol="0" anchor="t"/>
          <a:lstStyle/>
          <a:p>
            <a:pPr indent="0" marL="0">
              <a:buNone/>
            </a:pPr>
            <a:r>
              <a:rPr lang="en-US" sz="1400" dirty="0">
                <a:solidFill>
                  <a:schemeClr val="tx1"/>
                </a:solidFill>
              </a:rPr>
              <a:t>automated tests, plus an interactive app</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1 · COMPARISON</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Four ways to organize a page table</a:t>
            </a:r>
            <a:endParaRPr lang="en-US" sz="3000" dirty="0"/>
          </a:p>
        </p:txBody>
      </p:sp>
      <p:sp>
        <p:nvSpPr>
          <p:cNvPr id="5" name="Shape 2"/>
          <p:cNvSpPr/>
          <p:nvPr/>
        </p:nvSpPr>
        <p:spPr>
          <a:xfrm>
            <a:off x="548640" y="1600200"/>
            <a:ext cx="2651760" cy="4480560"/>
          </a:xfrm>
          <a:prstGeom prst="roundRect">
            <a:avLst>
              <a:gd name="adj" fmla="val 2759"/>
            </a:avLst>
          </a:prstGeom>
          <a:solidFill>
            <a:schemeClr val="bg2"/>
          </a:solidFill>
          <a:ln w="12700">
            <a:solidFill>
              <a:schemeClr val="bg2"/>
            </a:solidFill>
            <a:prstDash val="solid"/>
          </a:ln>
        </p:spPr>
      </p:sp>
      <p:sp>
        <p:nvSpPr>
          <p:cNvPr id="6" name="Shape 3"/>
          <p:cNvSpPr/>
          <p:nvPr/>
        </p:nvSpPr>
        <p:spPr>
          <a:xfrm>
            <a:off x="777240" y="1828800"/>
            <a:ext cx="274320" cy="274320"/>
          </a:xfrm>
          <a:prstGeom prst="ellipse">
            <a:avLst/>
          </a:prstGeom>
          <a:solidFill>
            <a:srgbClr val="2A78D6"/>
          </a:solidFill>
          <a:ln w="12700">
            <a:solidFill>
              <a:srgbClr val="2A78D6"/>
            </a:solidFill>
            <a:prstDash val="solid"/>
          </a:ln>
        </p:spPr>
      </p:sp>
      <p:sp>
        <p:nvSpPr>
          <p:cNvPr id="7" name="Text 4"/>
          <p:cNvSpPr txBox="1"/>
          <p:nvPr/>
        </p:nvSpPr>
        <p:spPr>
          <a:xfrm>
            <a:off x="777240" y="2240280"/>
            <a:ext cx="224028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Single-level</a:t>
            </a:r>
            <a:endParaRPr lang="en-US" sz="2000" dirty="0"/>
          </a:p>
        </p:txBody>
      </p:sp>
      <p:sp>
        <p:nvSpPr>
          <p:cNvPr id="8" name="Text 5"/>
          <p:cNvSpPr txBox="1"/>
          <p:nvPr/>
        </p:nvSpPr>
        <p:spPr>
          <a:xfrm>
            <a:off x="777240" y="2971800"/>
            <a:ext cx="2240280" cy="914400"/>
          </a:xfrm>
          <a:prstGeom prst="rect">
            <a:avLst/>
          </a:prstGeom>
          <a:noFill/>
          <a:ln/>
        </p:spPr>
        <p:txBody>
          <a:bodyPr wrap="square" lIns="0" tIns="0" rIns="0" bIns="0" rtlCol="0" anchor="t"/>
          <a:lstStyle/>
          <a:p>
            <a:pPr indent="0" marL="0">
              <a:buNone/>
            </a:pPr>
            <a:r>
              <a:rPr lang="en-US" sz="1500" dirty="0">
                <a:solidFill>
                  <a:schemeClr val="tx2"/>
                </a:solidFill>
              </a:rPr>
              <a:t>One flat array per process, indexed by page number.</a:t>
            </a:r>
            <a:endParaRPr lang="en-US" sz="1500" dirty="0"/>
          </a:p>
        </p:txBody>
      </p:sp>
      <p:sp>
        <p:nvSpPr>
          <p:cNvPr id="9" name="Text 6"/>
          <p:cNvSpPr txBox="1"/>
          <p:nvPr/>
        </p:nvSpPr>
        <p:spPr>
          <a:xfrm>
            <a:off x="777240" y="4069080"/>
            <a:ext cx="2240280" cy="822960"/>
          </a:xfrm>
          <a:prstGeom prst="rect">
            <a:avLst/>
          </a:prstGeom>
          <a:noFill/>
          <a:ln/>
        </p:spPr>
        <p:txBody>
          <a:bodyPr wrap="square" lIns="0" tIns="0" rIns="0" bIns="0" rtlCol="0" anchor="t"/>
          <a:lstStyle/>
          <a:p>
            <a:pPr indent="0" marL="0">
              <a:buNone/>
            </a:pPr>
            <a:r>
              <a:rPr lang="en-US" sz="1500" b="1" dirty="0">
                <a:solidFill>
                  <a:srgbClr val="1B7A55"/>
                </a:solidFill>
              </a:rPr>
              <a:t>+ 1 read per miss</a:t>
            </a:r>
            <a:endParaRPr lang="en-US" sz="1500" dirty="0"/>
          </a:p>
        </p:txBody>
      </p:sp>
      <p:sp>
        <p:nvSpPr>
          <p:cNvPr id="10" name="Text 7"/>
          <p:cNvSpPr txBox="1"/>
          <p:nvPr/>
        </p:nvSpPr>
        <p:spPr>
          <a:xfrm>
            <a:off x="777240" y="4937760"/>
            <a:ext cx="2240280" cy="914400"/>
          </a:xfrm>
          <a:prstGeom prst="rect">
            <a:avLst/>
          </a:prstGeom>
          <a:noFill/>
          <a:ln/>
        </p:spPr>
        <p:txBody>
          <a:bodyPr wrap="square" lIns="0" tIns="0" rIns="0" bIns="0" rtlCol="0" anchor="t"/>
          <a:lstStyle/>
          <a:p>
            <a:pPr indent="0" marL="0">
              <a:buNone/>
            </a:pPr>
            <a:r>
              <a:rPr lang="en-US" sz="1500" b="1" dirty="0">
                <a:solidFill>
                  <a:srgbClr val="A33A12"/>
                </a:solidFill>
              </a:rPr>
              <a:t>– Size covers the whole address span</a:t>
            </a:r>
            <a:endParaRPr lang="en-US" sz="1500" dirty="0"/>
          </a:p>
        </p:txBody>
      </p:sp>
      <p:sp>
        <p:nvSpPr>
          <p:cNvPr id="11" name="Shape 8"/>
          <p:cNvSpPr/>
          <p:nvPr/>
        </p:nvSpPr>
        <p:spPr>
          <a:xfrm>
            <a:off x="3364992" y="1600200"/>
            <a:ext cx="2651760" cy="4480560"/>
          </a:xfrm>
          <a:prstGeom prst="roundRect">
            <a:avLst>
              <a:gd name="adj" fmla="val 2759"/>
            </a:avLst>
          </a:prstGeom>
          <a:solidFill>
            <a:schemeClr val="bg2"/>
          </a:solidFill>
          <a:ln w="12700">
            <a:solidFill>
              <a:schemeClr val="bg2"/>
            </a:solidFill>
            <a:prstDash val="solid"/>
          </a:ln>
        </p:spPr>
      </p:sp>
      <p:sp>
        <p:nvSpPr>
          <p:cNvPr id="12" name="Shape 9"/>
          <p:cNvSpPr/>
          <p:nvPr/>
        </p:nvSpPr>
        <p:spPr>
          <a:xfrm>
            <a:off x="3593592" y="1828800"/>
            <a:ext cx="274320" cy="274320"/>
          </a:xfrm>
          <a:prstGeom prst="ellipse">
            <a:avLst/>
          </a:prstGeom>
          <a:solidFill>
            <a:srgbClr val="EB6834"/>
          </a:solidFill>
          <a:ln w="12700">
            <a:solidFill>
              <a:srgbClr val="EB6834"/>
            </a:solidFill>
            <a:prstDash val="solid"/>
          </a:ln>
        </p:spPr>
      </p:sp>
      <p:sp>
        <p:nvSpPr>
          <p:cNvPr id="13" name="Text 10"/>
          <p:cNvSpPr txBox="1"/>
          <p:nvPr/>
        </p:nvSpPr>
        <p:spPr>
          <a:xfrm>
            <a:off x="3593592" y="2240280"/>
            <a:ext cx="224028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Multi-level (radix)</a:t>
            </a:r>
            <a:endParaRPr lang="en-US" sz="2000" dirty="0"/>
          </a:p>
        </p:txBody>
      </p:sp>
      <p:sp>
        <p:nvSpPr>
          <p:cNvPr id="14" name="Text 11"/>
          <p:cNvSpPr txBox="1"/>
          <p:nvPr/>
        </p:nvSpPr>
        <p:spPr>
          <a:xfrm>
            <a:off x="3593592" y="2971800"/>
            <a:ext cx="2240280" cy="914400"/>
          </a:xfrm>
          <a:prstGeom prst="rect">
            <a:avLst/>
          </a:prstGeom>
          <a:noFill/>
          <a:ln/>
        </p:spPr>
        <p:txBody>
          <a:bodyPr wrap="square" lIns="0" tIns="0" rIns="0" bIns="0" rtlCol="0" anchor="t"/>
          <a:lstStyle/>
          <a:p>
            <a:pPr indent="0" marL="0">
              <a:buNone/>
            </a:pPr>
            <a:r>
              <a:rPr lang="en-US" sz="1500" dirty="0">
                <a:solidFill>
                  <a:schemeClr val="tx2"/>
                </a:solidFill>
              </a:rPr>
              <a:t>A tree; only the branches in use exist.</a:t>
            </a:r>
            <a:endParaRPr lang="en-US" sz="1500" dirty="0"/>
          </a:p>
        </p:txBody>
      </p:sp>
      <p:sp>
        <p:nvSpPr>
          <p:cNvPr id="15" name="Text 12"/>
          <p:cNvSpPr txBox="1"/>
          <p:nvPr/>
        </p:nvSpPr>
        <p:spPr>
          <a:xfrm>
            <a:off x="3593592" y="4069080"/>
            <a:ext cx="2240280" cy="822960"/>
          </a:xfrm>
          <a:prstGeom prst="rect">
            <a:avLst/>
          </a:prstGeom>
          <a:noFill/>
          <a:ln/>
        </p:spPr>
        <p:txBody>
          <a:bodyPr wrap="square" lIns="0" tIns="0" rIns="0" bIns="0" rtlCol="0" anchor="t"/>
          <a:lstStyle/>
          <a:p>
            <a:pPr indent="0" marL="0">
              <a:buNone/>
            </a:pPr>
            <a:r>
              <a:rPr lang="en-US" sz="1500" b="1" dirty="0">
                <a:solidFill>
                  <a:srgbClr val="1B7A55"/>
                </a:solidFill>
              </a:rPr>
              <a:t>+ Tiny for sparse address spaces</a:t>
            </a:r>
            <a:endParaRPr lang="en-US" sz="1500" dirty="0"/>
          </a:p>
        </p:txBody>
      </p:sp>
      <p:sp>
        <p:nvSpPr>
          <p:cNvPr id="16" name="Text 13"/>
          <p:cNvSpPr txBox="1"/>
          <p:nvPr/>
        </p:nvSpPr>
        <p:spPr>
          <a:xfrm>
            <a:off x="3593592" y="4937760"/>
            <a:ext cx="2240280" cy="914400"/>
          </a:xfrm>
          <a:prstGeom prst="rect">
            <a:avLst/>
          </a:prstGeom>
          <a:noFill/>
          <a:ln/>
        </p:spPr>
        <p:txBody>
          <a:bodyPr wrap="square" lIns="0" tIns="0" rIns="0" bIns="0" rtlCol="0" anchor="t"/>
          <a:lstStyle/>
          <a:p>
            <a:pPr indent="0" marL="0">
              <a:buNone/>
            </a:pPr>
            <a:r>
              <a:rPr lang="en-US" sz="1500" b="1" dirty="0">
                <a:solidFill>
                  <a:srgbClr val="A33A12"/>
                </a:solidFill>
              </a:rPr>
              <a:t>– 1 read per level: 4 on x86-64</a:t>
            </a:r>
            <a:endParaRPr lang="en-US" sz="1500" dirty="0"/>
          </a:p>
        </p:txBody>
      </p:sp>
      <p:sp>
        <p:nvSpPr>
          <p:cNvPr id="17" name="Shape 14"/>
          <p:cNvSpPr/>
          <p:nvPr/>
        </p:nvSpPr>
        <p:spPr>
          <a:xfrm>
            <a:off x="6181344" y="1600200"/>
            <a:ext cx="2651760" cy="4480560"/>
          </a:xfrm>
          <a:prstGeom prst="roundRect">
            <a:avLst>
              <a:gd name="adj" fmla="val 2759"/>
            </a:avLst>
          </a:prstGeom>
          <a:solidFill>
            <a:schemeClr val="bg2"/>
          </a:solidFill>
          <a:ln w="12700">
            <a:solidFill>
              <a:schemeClr val="bg2"/>
            </a:solidFill>
            <a:prstDash val="solid"/>
          </a:ln>
        </p:spPr>
      </p:sp>
      <p:sp>
        <p:nvSpPr>
          <p:cNvPr id="18" name="Shape 15"/>
          <p:cNvSpPr/>
          <p:nvPr/>
        </p:nvSpPr>
        <p:spPr>
          <a:xfrm>
            <a:off x="6409944" y="1828800"/>
            <a:ext cx="274320" cy="274320"/>
          </a:xfrm>
          <a:prstGeom prst="ellipse">
            <a:avLst/>
          </a:prstGeom>
          <a:solidFill>
            <a:srgbClr val="1BAF7A"/>
          </a:solidFill>
          <a:ln w="12700">
            <a:solidFill>
              <a:srgbClr val="1BAF7A"/>
            </a:solidFill>
            <a:prstDash val="solid"/>
          </a:ln>
        </p:spPr>
      </p:sp>
      <p:sp>
        <p:nvSpPr>
          <p:cNvPr id="19" name="Text 16"/>
          <p:cNvSpPr txBox="1"/>
          <p:nvPr/>
        </p:nvSpPr>
        <p:spPr>
          <a:xfrm>
            <a:off x="6409944" y="2240280"/>
            <a:ext cx="224028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Hashed</a:t>
            </a:r>
            <a:endParaRPr lang="en-US" sz="2000" dirty="0"/>
          </a:p>
        </p:txBody>
      </p:sp>
      <p:sp>
        <p:nvSpPr>
          <p:cNvPr id="20" name="Text 17"/>
          <p:cNvSpPr txBox="1"/>
          <p:nvPr/>
        </p:nvSpPr>
        <p:spPr>
          <a:xfrm>
            <a:off x="6409944" y="2971800"/>
            <a:ext cx="2240280" cy="914400"/>
          </a:xfrm>
          <a:prstGeom prst="rect">
            <a:avLst/>
          </a:prstGeom>
          <a:noFill/>
          <a:ln/>
        </p:spPr>
        <p:txBody>
          <a:bodyPr wrap="square" lIns="0" tIns="0" rIns="0" bIns="0" rtlCol="0" anchor="t"/>
          <a:lstStyle/>
          <a:p>
            <a:pPr indent="0" marL="0">
              <a:buNone/>
            </a:pPr>
            <a:r>
              <a:rPr lang="en-US" sz="1500" dirty="0">
                <a:solidFill>
                  <a:schemeClr val="tx2"/>
                </a:solidFill>
              </a:rPr>
              <a:t>Hash of (process, page) selects a chain.</a:t>
            </a:r>
            <a:endParaRPr lang="en-US" sz="1500" dirty="0"/>
          </a:p>
        </p:txBody>
      </p:sp>
      <p:sp>
        <p:nvSpPr>
          <p:cNvPr id="21" name="Text 18"/>
          <p:cNvSpPr txBox="1"/>
          <p:nvPr/>
        </p:nvSpPr>
        <p:spPr>
          <a:xfrm>
            <a:off x="6409944" y="4069080"/>
            <a:ext cx="2240280" cy="822960"/>
          </a:xfrm>
          <a:prstGeom prst="rect">
            <a:avLst/>
          </a:prstGeom>
          <a:noFill/>
          <a:ln/>
        </p:spPr>
        <p:txBody>
          <a:bodyPr wrap="square" lIns="0" tIns="0" rIns="0" bIns="0" rtlCol="0" anchor="t"/>
          <a:lstStyle/>
          <a:p>
            <a:pPr indent="0" marL="0">
              <a:buNone/>
            </a:pPr>
            <a:r>
              <a:rPr lang="en-US" sz="1500" b="1" dirty="0">
                <a:solidFill>
                  <a:srgbClr val="1B7A55"/>
                </a:solidFill>
              </a:rPr>
              <a:t>+ About 1 read per miss</a:t>
            </a:r>
            <a:endParaRPr lang="en-US" sz="1500" dirty="0"/>
          </a:p>
        </p:txBody>
      </p:sp>
      <p:sp>
        <p:nvSpPr>
          <p:cNvPr id="22" name="Text 19"/>
          <p:cNvSpPr txBox="1"/>
          <p:nvPr/>
        </p:nvSpPr>
        <p:spPr>
          <a:xfrm>
            <a:off x="6409944" y="4937760"/>
            <a:ext cx="2240280" cy="914400"/>
          </a:xfrm>
          <a:prstGeom prst="rect">
            <a:avLst/>
          </a:prstGeom>
          <a:noFill/>
          <a:ln/>
        </p:spPr>
        <p:txBody>
          <a:bodyPr wrap="square" lIns="0" tIns="0" rIns="0" bIns="0" rtlCol="0" anchor="t"/>
          <a:lstStyle/>
          <a:p>
            <a:pPr indent="0" marL="0">
              <a:buNone/>
            </a:pPr>
            <a:r>
              <a:rPr lang="en-US" sz="1500" b="1" dirty="0">
                <a:solidFill>
                  <a:srgbClr val="A33A12"/>
                </a:solidFill>
              </a:rPr>
              <a:t>– Scatters entries; huge pages are hard</a:t>
            </a:r>
            <a:endParaRPr lang="en-US" sz="1500" dirty="0"/>
          </a:p>
        </p:txBody>
      </p:sp>
      <p:sp>
        <p:nvSpPr>
          <p:cNvPr id="23" name="Shape 20"/>
          <p:cNvSpPr/>
          <p:nvPr/>
        </p:nvSpPr>
        <p:spPr>
          <a:xfrm>
            <a:off x="8997696" y="1600200"/>
            <a:ext cx="2651760" cy="4480560"/>
          </a:xfrm>
          <a:prstGeom prst="roundRect">
            <a:avLst>
              <a:gd name="adj" fmla="val 2759"/>
            </a:avLst>
          </a:prstGeom>
          <a:solidFill>
            <a:schemeClr val="bg2"/>
          </a:solidFill>
          <a:ln w="12700">
            <a:solidFill>
              <a:schemeClr val="bg2"/>
            </a:solidFill>
            <a:prstDash val="solid"/>
          </a:ln>
        </p:spPr>
      </p:sp>
      <p:sp>
        <p:nvSpPr>
          <p:cNvPr id="24" name="Shape 21"/>
          <p:cNvSpPr/>
          <p:nvPr/>
        </p:nvSpPr>
        <p:spPr>
          <a:xfrm>
            <a:off x="9226296" y="1828800"/>
            <a:ext cx="274320" cy="274320"/>
          </a:xfrm>
          <a:prstGeom prst="ellipse">
            <a:avLst/>
          </a:prstGeom>
          <a:solidFill>
            <a:srgbClr val="EDA100"/>
          </a:solidFill>
          <a:ln w="12700">
            <a:solidFill>
              <a:srgbClr val="EDA100"/>
            </a:solidFill>
            <a:prstDash val="solid"/>
          </a:ln>
        </p:spPr>
      </p:sp>
      <p:sp>
        <p:nvSpPr>
          <p:cNvPr id="25" name="Text 22"/>
          <p:cNvSpPr txBox="1"/>
          <p:nvPr/>
        </p:nvSpPr>
        <p:spPr>
          <a:xfrm>
            <a:off x="9226296" y="2240280"/>
            <a:ext cx="2240280" cy="6858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Inverted</a:t>
            </a:r>
            <a:endParaRPr lang="en-US" sz="2000" dirty="0"/>
          </a:p>
        </p:txBody>
      </p:sp>
      <p:sp>
        <p:nvSpPr>
          <p:cNvPr id="26" name="Text 23"/>
          <p:cNvSpPr txBox="1"/>
          <p:nvPr/>
        </p:nvSpPr>
        <p:spPr>
          <a:xfrm>
            <a:off x="9226296" y="2971800"/>
            <a:ext cx="2240280" cy="914400"/>
          </a:xfrm>
          <a:prstGeom prst="rect">
            <a:avLst/>
          </a:prstGeom>
          <a:noFill/>
          <a:ln/>
        </p:spPr>
        <p:txBody>
          <a:bodyPr wrap="square" lIns="0" tIns="0" rIns="0" bIns="0" rtlCol="0" anchor="t"/>
          <a:lstStyle/>
          <a:p>
            <a:pPr indent="0" marL="0">
              <a:buNone/>
            </a:pPr>
            <a:r>
              <a:rPr lang="en-US" sz="1500" dirty="0">
                <a:solidFill>
                  <a:schemeClr val="tx2"/>
                </a:solidFill>
              </a:rPr>
              <a:t>One entry per physical frame, shared by all.</a:t>
            </a:r>
            <a:endParaRPr lang="en-US" sz="1500" dirty="0"/>
          </a:p>
        </p:txBody>
      </p:sp>
      <p:sp>
        <p:nvSpPr>
          <p:cNvPr id="27" name="Text 24"/>
          <p:cNvSpPr txBox="1"/>
          <p:nvPr/>
        </p:nvSpPr>
        <p:spPr>
          <a:xfrm>
            <a:off x="9226296" y="4069080"/>
            <a:ext cx="2240280" cy="822960"/>
          </a:xfrm>
          <a:prstGeom prst="rect">
            <a:avLst/>
          </a:prstGeom>
          <a:noFill/>
          <a:ln/>
        </p:spPr>
        <p:txBody>
          <a:bodyPr wrap="square" lIns="0" tIns="0" rIns="0" bIns="0" rtlCol="0" anchor="t"/>
          <a:lstStyle/>
          <a:p>
            <a:pPr indent="0" marL="0">
              <a:buNone/>
            </a:pPr>
            <a:r>
              <a:rPr lang="en-US" sz="1500" b="1" dirty="0">
                <a:solidFill>
                  <a:srgbClr val="1B7A55"/>
                </a:solidFill>
              </a:rPr>
              <a:t>+ Size follows RAM only</a:t>
            </a:r>
            <a:endParaRPr lang="en-US" sz="1500" dirty="0"/>
          </a:p>
        </p:txBody>
      </p:sp>
      <p:sp>
        <p:nvSpPr>
          <p:cNvPr id="28" name="Text 25"/>
          <p:cNvSpPr txBox="1"/>
          <p:nvPr/>
        </p:nvSpPr>
        <p:spPr>
          <a:xfrm>
            <a:off x="9226296" y="4937760"/>
            <a:ext cx="2240280" cy="914400"/>
          </a:xfrm>
          <a:prstGeom prst="rect">
            <a:avLst/>
          </a:prstGeom>
          <a:noFill/>
          <a:ln/>
        </p:spPr>
        <p:txBody>
          <a:bodyPr wrap="square" lIns="0" tIns="0" rIns="0" bIns="0" rtlCol="0" anchor="t"/>
          <a:lstStyle/>
          <a:p>
            <a:pPr indent="0" marL="0">
              <a:buNone/>
            </a:pPr>
            <a:r>
              <a:rPr lang="en-US" sz="1500" b="1" dirty="0">
                <a:solidFill>
                  <a:srgbClr val="A33A12"/>
                </a:solidFill>
              </a:rPr>
              <a:t>– Anchor read plus chain; sharing is awkward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1 · COMPARISON</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Method: one trace, one TLB, four real walks</a:t>
            </a:r>
            <a:endParaRPr lang="en-US" sz="3000" dirty="0"/>
          </a:p>
        </p:txBody>
      </p:sp>
      <p:sp>
        <p:nvSpPr>
          <p:cNvPr id="5" name="Shape 2"/>
          <p:cNvSpPr/>
          <p:nvPr/>
        </p:nvSpPr>
        <p:spPr>
          <a:xfrm>
            <a:off x="548640" y="1600200"/>
            <a:ext cx="2651760" cy="2743200"/>
          </a:xfrm>
          <a:prstGeom prst="roundRect">
            <a:avLst>
              <a:gd name="adj" fmla="val 2759"/>
            </a:avLst>
          </a:prstGeom>
          <a:solidFill>
            <a:schemeClr val="bg2"/>
          </a:solidFill>
          <a:ln w="12700">
            <a:solidFill>
              <a:schemeClr val="bg2"/>
            </a:solidFill>
            <a:prstDash val="solid"/>
          </a:ln>
        </p:spPr>
      </p:sp>
      <p:sp>
        <p:nvSpPr>
          <p:cNvPr id="6" name="Shape 3"/>
          <p:cNvSpPr/>
          <p:nvPr/>
        </p:nvSpPr>
        <p:spPr>
          <a:xfrm>
            <a:off x="777240" y="182880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8" name="Text 5"/>
          <p:cNvSpPr txBox="1"/>
          <p:nvPr/>
        </p:nvSpPr>
        <p:spPr>
          <a:xfrm>
            <a:off x="1371600" y="1874520"/>
            <a:ext cx="16459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Workload</a:t>
            </a:r>
            <a:endParaRPr lang="en-US" sz="2000" dirty="0"/>
          </a:p>
        </p:txBody>
      </p:sp>
      <p:sp>
        <p:nvSpPr>
          <p:cNvPr id="9" name="Text 6"/>
          <p:cNvSpPr txBox="1"/>
          <p:nvPr/>
        </p:nvSpPr>
        <p:spPr>
          <a:xfrm>
            <a:off x="777240" y="2514600"/>
            <a:ext cx="2240280" cy="1737360"/>
          </a:xfrm>
          <a:prstGeom prst="rect">
            <a:avLst/>
          </a:prstGeom>
          <a:noFill/>
          <a:ln/>
        </p:spPr>
        <p:txBody>
          <a:bodyPr wrap="square" lIns="0" tIns="0" rIns="0" bIns="0" rtlCol="0" anchor="t"/>
          <a:lstStyle/>
          <a:p>
            <a:pPr indent="0" marL="0">
              <a:buNone/>
            </a:pPr>
            <a:r>
              <a:rPr lang="en-US" sz="1500" dirty="0">
                <a:solidFill>
                  <a:schemeClr val="tx2"/>
                </a:solidFill>
              </a:rPr>
              <a:t>Seeded trace of 100,000 accesses; sequential, strided, random or Zipf-skewed; 16 MiB per process.</a:t>
            </a:r>
            <a:endParaRPr lang="en-US" sz="1500" dirty="0"/>
          </a:p>
        </p:txBody>
      </p:sp>
      <p:sp>
        <p:nvSpPr>
          <p:cNvPr id="10" name="Shape 7"/>
          <p:cNvSpPr/>
          <p:nvPr/>
        </p:nvSpPr>
        <p:spPr>
          <a:xfrm>
            <a:off x="3364992" y="1600200"/>
            <a:ext cx="2651760" cy="2743200"/>
          </a:xfrm>
          <a:prstGeom prst="roundRect">
            <a:avLst>
              <a:gd name="adj" fmla="val 2759"/>
            </a:avLst>
          </a:prstGeom>
          <a:solidFill>
            <a:schemeClr val="bg2"/>
          </a:solidFill>
          <a:ln w="12700">
            <a:solidFill>
              <a:schemeClr val="bg2"/>
            </a:solidFill>
            <a:prstDash val="solid"/>
          </a:ln>
        </p:spPr>
      </p:sp>
      <p:sp>
        <p:nvSpPr>
          <p:cNvPr id="11" name="Shape 8"/>
          <p:cNvSpPr/>
          <p:nvPr/>
        </p:nvSpPr>
        <p:spPr>
          <a:xfrm>
            <a:off x="3593592" y="182880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3593592" y="18288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Text 10"/>
          <p:cNvSpPr txBox="1"/>
          <p:nvPr/>
        </p:nvSpPr>
        <p:spPr>
          <a:xfrm>
            <a:off x="4187952" y="1874520"/>
            <a:ext cx="16459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TLB</a:t>
            </a:r>
            <a:endParaRPr lang="en-US" sz="2000" dirty="0"/>
          </a:p>
        </p:txBody>
      </p:sp>
      <p:sp>
        <p:nvSpPr>
          <p:cNvPr id="14" name="Text 11"/>
          <p:cNvSpPr txBox="1"/>
          <p:nvPr/>
        </p:nvSpPr>
        <p:spPr>
          <a:xfrm>
            <a:off x="3593592" y="2514600"/>
            <a:ext cx="2240280" cy="1737360"/>
          </a:xfrm>
          <a:prstGeom prst="rect">
            <a:avLst/>
          </a:prstGeom>
          <a:noFill/>
          <a:ln/>
        </p:spPr>
        <p:txBody>
          <a:bodyPr wrap="square" lIns="0" tIns="0" rIns="0" bIns="0" rtlCol="0" anchor="t"/>
          <a:lstStyle/>
          <a:p>
            <a:pPr indent="0" marL="0">
              <a:buNone/>
            </a:pPr>
            <a:r>
              <a:rPr lang="en-US" sz="1500" dirty="0">
                <a:solidFill>
                  <a:schemeClr val="tx2"/>
                </a:solidFill>
              </a:rPr>
              <a:t>One shared LRU TLB, flushed on context switch. Hits are identical for every table.</a:t>
            </a:r>
            <a:endParaRPr lang="en-US" sz="1500" dirty="0"/>
          </a:p>
        </p:txBody>
      </p:sp>
      <p:sp>
        <p:nvSpPr>
          <p:cNvPr id="15" name="Shape 12"/>
          <p:cNvSpPr/>
          <p:nvPr/>
        </p:nvSpPr>
        <p:spPr>
          <a:xfrm>
            <a:off x="6181344" y="1600200"/>
            <a:ext cx="2651760" cy="2743200"/>
          </a:xfrm>
          <a:prstGeom prst="roundRect">
            <a:avLst>
              <a:gd name="adj" fmla="val 2759"/>
            </a:avLst>
          </a:prstGeom>
          <a:solidFill>
            <a:schemeClr val="bg2"/>
          </a:solidFill>
          <a:ln w="12700">
            <a:solidFill>
              <a:schemeClr val="bg2"/>
            </a:solidFill>
            <a:prstDash val="solid"/>
          </a:ln>
        </p:spPr>
      </p:sp>
      <p:sp>
        <p:nvSpPr>
          <p:cNvPr id="16" name="Shape 13"/>
          <p:cNvSpPr/>
          <p:nvPr/>
        </p:nvSpPr>
        <p:spPr>
          <a:xfrm>
            <a:off x="6409944" y="182880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6409944" y="18288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8" name="Text 15"/>
          <p:cNvSpPr txBox="1"/>
          <p:nvPr/>
        </p:nvSpPr>
        <p:spPr>
          <a:xfrm>
            <a:off x="7004304" y="1874520"/>
            <a:ext cx="16459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Walk</a:t>
            </a:r>
            <a:endParaRPr lang="en-US" sz="2000" dirty="0"/>
          </a:p>
        </p:txBody>
      </p:sp>
      <p:sp>
        <p:nvSpPr>
          <p:cNvPr id="19" name="Text 16"/>
          <p:cNvSpPr txBox="1"/>
          <p:nvPr/>
        </p:nvSpPr>
        <p:spPr>
          <a:xfrm>
            <a:off x="6409944" y="2514600"/>
            <a:ext cx="2240280" cy="1737360"/>
          </a:xfrm>
          <a:prstGeom prst="rect">
            <a:avLst/>
          </a:prstGeom>
          <a:noFill/>
          <a:ln/>
        </p:spPr>
        <p:txBody>
          <a:bodyPr wrap="square" lIns="0" tIns="0" rIns="0" bIns="0" rtlCol="0" anchor="t"/>
          <a:lstStyle/>
          <a:p>
            <a:pPr indent="0" marL="0">
              <a:buNone/>
            </a:pPr>
            <a:r>
              <a:rPr lang="en-US" sz="1500" dirty="0">
                <a:solidFill>
                  <a:schemeClr val="tx2"/>
                </a:solidFill>
              </a:rPr>
              <a:t>Each miss walks a real data structure and counts its memory reads.</a:t>
            </a:r>
            <a:endParaRPr lang="en-US" sz="1500" dirty="0"/>
          </a:p>
        </p:txBody>
      </p:sp>
      <p:sp>
        <p:nvSpPr>
          <p:cNvPr id="20" name="Shape 17"/>
          <p:cNvSpPr/>
          <p:nvPr/>
        </p:nvSpPr>
        <p:spPr>
          <a:xfrm>
            <a:off x="8997696" y="1600200"/>
            <a:ext cx="2651760" cy="2743200"/>
          </a:xfrm>
          <a:prstGeom prst="roundRect">
            <a:avLst>
              <a:gd name="adj" fmla="val 2759"/>
            </a:avLst>
          </a:prstGeom>
          <a:solidFill>
            <a:schemeClr val="bg2"/>
          </a:solidFill>
          <a:ln w="12700">
            <a:solidFill>
              <a:schemeClr val="bg2"/>
            </a:solidFill>
            <a:prstDash val="solid"/>
          </a:ln>
        </p:spPr>
      </p:sp>
      <p:sp>
        <p:nvSpPr>
          <p:cNvPr id="21" name="Shape 18"/>
          <p:cNvSpPr/>
          <p:nvPr/>
        </p:nvSpPr>
        <p:spPr>
          <a:xfrm>
            <a:off x="9226296" y="182880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9226296" y="18288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3" name="Text 20"/>
          <p:cNvSpPr txBox="1"/>
          <p:nvPr/>
        </p:nvSpPr>
        <p:spPr>
          <a:xfrm>
            <a:off x="9820656" y="1874520"/>
            <a:ext cx="16459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Cost</a:t>
            </a:r>
            <a:endParaRPr lang="en-US" sz="2000" dirty="0"/>
          </a:p>
        </p:txBody>
      </p:sp>
      <p:sp>
        <p:nvSpPr>
          <p:cNvPr id="24" name="Text 21"/>
          <p:cNvSpPr txBox="1"/>
          <p:nvPr/>
        </p:nvSpPr>
        <p:spPr>
          <a:xfrm>
            <a:off x="9226296" y="2514600"/>
            <a:ext cx="2240280" cy="1737360"/>
          </a:xfrm>
          <a:prstGeom prst="rect">
            <a:avLst/>
          </a:prstGeom>
          <a:noFill/>
          <a:ln/>
        </p:spPr>
        <p:txBody>
          <a:bodyPr wrap="square" lIns="0" tIns="0" rIns="0" bIns="0" rtlCol="0" anchor="t"/>
          <a:lstStyle/>
          <a:p>
            <a:pPr indent="0" marL="0">
              <a:buNone/>
            </a:pPr>
            <a:r>
              <a:rPr lang="en-US" sz="1500" dirty="0">
                <a:solidFill>
                  <a:schemeClr val="tx2"/>
                </a:solidFill>
              </a:rPr>
              <a:t>1 cycle per access + 100 per memory read + 10 per hash on a miss.</a:t>
            </a:r>
            <a:endParaRPr lang="en-US" sz="1500" dirty="0"/>
          </a:p>
        </p:txBody>
      </p:sp>
      <p:sp>
        <p:nvSpPr>
          <p:cNvPr id="25" name="Text 22"/>
          <p:cNvSpPr txBox="1"/>
          <p:nvPr/>
        </p:nvSpPr>
        <p:spPr>
          <a:xfrm>
            <a:off x="548640" y="466344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BASELINE</a:t>
            </a:r>
            <a:endParaRPr lang="en-US" sz="1200" dirty="0"/>
          </a:p>
        </p:txBody>
      </p:sp>
      <p:sp>
        <p:nvSpPr>
          <p:cNvPr id="26" name="Text 23"/>
          <p:cNvSpPr txBox="1"/>
          <p:nvPr/>
        </p:nvSpPr>
        <p:spPr>
          <a:xfrm>
            <a:off x="548640" y="4983480"/>
            <a:ext cx="11064240" cy="411480"/>
          </a:xfrm>
          <a:prstGeom prst="rect">
            <a:avLst/>
          </a:prstGeom>
          <a:noFill/>
          <a:ln/>
        </p:spPr>
        <p:txBody>
          <a:bodyPr wrap="square" lIns="0" tIns="0" rIns="0" bIns="0" rtlCol="0" anchor="t"/>
          <a:lstStyle/>
          <a:p>
            <a:pPr indent="0" marL="0">
              <a:buNone/>
            </a:pPr>
            <a:r>
              <a:rPr lang="en-US" sz="1800" b="1" dirty="0">
                <a:solidFill>
                  <a:schemeClr val="tx1"/>
                </a:solidFill>
              </a:rPr>
              <a:t>4 KB pages · 64-entry TLB · 16 GiB address span, 4 GiB RAM · skewed access · 1 process</a:t>
            </a:r>
            <a:endParaRPr lang="en-US" sz="1800" dirty="0"/>
          </a:p>
        </p:txBody>
      </p:sp>
      <p:sp>
        <p:nvSpPr>
          <p:cNvPr id="27" name="Text 24"/>
          <p:cNvSpPr txBox="1"/>
          <p:nvPr/>
        </p:nvSpPr>
        <p:spPr>
          <a:xfrm>
            <a:off x="548640" y="5440680"/>
            <a:ext cx="11064240" cy="411480"/>
          </a:xfrm>
          <a:prstGeom prst="rect">
            <a:avLst/>
          </a:prstGeom>
          <a:noFill/>
          <a:ln/>
        </p:spPr>
        <p:txBody>
          <a:bodyPr wrap="square" lIns="0" tIns="0" rIns="0" bIns="0" rtlCol="0" anchor="t"/>
          <a:lstStyle/>
          <a:p>
            <a:pPr indent="0" marL="0">
              <a:buNone/>
            </a:pPr>
            <a:r>
              <a:rPr lang="en-US" sz="1500" dirty="0">
                <a:solidFill>
                  <a:schemeClr val="tx2"/>
                </a:solidFill>
              </a:rPr>
              <a:t>Sweeps: page size 4 KB–2 MB · TLB off–1024 entries · memory small/medium/large · four patterns · 1–16 processes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1 · COMPARISON</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Baseline: the fastest table is not the smallest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223760" cy="914400"/>
        </p:xfrm>
        <a:graphic>
          <a:graphicData uri="http://schemas.openxmlformats.org/drawingml/2006/table">
            <a:tbl>
              <a:tblPr/>
              <a:tblGrid>
                <a:gridCol w="2011680"/>
                <a:gridCol w="1737360"/>
                <a:gridCol w="1737360"/>
                <a:gridCol w="1737360"/>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Organization</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Latency (cycles)</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Reads / access</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Table memory</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r>
              <a:tr h="0">
                <a:tc>
                  <a:txBody>
                    <a:bodyPr/>
                    <a:lstStyle/>
                    <a:p>
                      <a:pPr algn="l" indent="0" marL="0">
                        <a:buNone/>
                      </a:pPr>
                      <a:r>
                        <a:rPr lang="en-US" sz="1600" b="1" dirty="0">
                          <a:solidFill>
                            <a:srgbClr val="16202E"/>
                          </a:solidFill>
                          <a:latin typeface="Calibri" pitchFamily="34" charset="0"/>
                          <a:ea typeface="Calibri" pitchFamily="34" charset="-122"/>
                          <a:cs typeface="Calibri" pitchFamily="34" charset="-120"/>
                        </a:rPr>
                        <a:t>single-level</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62.0</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0.61</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32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600" b="1" dirty="0">
                          <a:solidFill>
                            <a:srgbClr val="16202E"/>
                          </a:solidFill>
                          <a:latin typeface="Calibri" pitchFamily="34" charset="0"/>
                          <a:ea typeface="Calibri" pitchFamily="34" charset="-122"/>
                          <a:cs typeface="Calibri" pitchFamily="34" charset="-120"/>
                        </a:rPr>
                        <a:t>hashed</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68.3</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0.61</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4.1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6202E"/>
                          </a:solidFill>
                          <a:latin typeface="Calibri" pitchFamily="34" charset="0"/>
                          <a:ea typeface="Calibri" pitchFamily="34" charset="-122"/>
                          <a:cs typeface="Calibri" pitchFamily="34" charset="-120"/>
                        </a:rPr>
                        <a:t>inverted</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129.5</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1.22</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20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600" b="1" dirty="0">
                          <a:solidFill>
                            <a:srgbClr val="16202E"/>
                          </a:solidFill>
                          <a:latin typeface="Calibri" pitchFamily="34" charset="0"/>
                          <a:ea typeface="Calibri" pitchFamily="34" charset="-122"/>
                          <a:cs typeface="Calibri" pitchFamily="34" charset="-120"/>
                        </a:rPr>
                        <a:t>multi-level</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245.2</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2.44</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60 KiB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4251960"/>
            <a:ext cx="7223760" cy="640080"/>
          </a:xfrm>
          <a:prstGeom prst="rect">
            <a:avLst/>
          </a:prstGeom>
          <a:noFill/>
          <a:ln/>
        </p:spPr>
        <p:txBody>
          <a:bodyPr wrap="square" lIns="0" tIns="0" rIns="0" bIns="0" rtlCol="0" anchor="t"/>
          <a:lstStyle/>
          <a:p>
            <a:pPr indent="0" marL="0">
              <a:buNone/>
            </a:pPr>
            <a:r>
              <a:rPr lang="en-US" sz="1500" dirty="0">
                <a:solidFill>
                  <a:schemeClr val="tx2"/>
                </a:solidFill>
              </a:rPr>
              <a:t>TLB hit rate is 0.39 for all four: it depends on the trace and the TLB, not on the table.</a:t>
            </a:r>
            <a:endParaRPr lang="en-US" sz="1500" dirty="0"/>
          </a:p>
        </p:txBody>
      </p:sp>
      <p:sp>
        <p:nvSpPr>
          <p:cNvPr id="7" name="Text 3"/>
          <p:cNvSpPr txBox="1"/>
          <p:nvPr/>
        </p:nvSpPr>
        <p:spPr>
          <a:xfrm>
            <a:off x="8229600" y="1600200"/>
            <a:ext cx="338328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546x</a:t>
            </a:r>
            <a:endParaRPr lang="en-US" sz="5400" dirty="0"/>
          </a:p>
        </p:txBody>
      </p:sp>
      <p:sp>
        <p:nvSpPr>
          <p:cNvPr id="8" name="Text 4"/>
          <p:cNvSpPr txBox="1"/>
          <p:nvPr/>
        </p:nvSpPr>
        <p:spPr>
          <a:xfrm>
            <a:off x="8229600" y="2560320"/>
            <a:ext cx="3383280" cy="822960"/>
          </a:xfrm>
          <a:prstGeom prst="rect">
            <a:avLst/>
          </a:prstGeom>
          <a:noFill/>
          <a:ln/>
        </p:spPr>
        <p:txBody>
          <a:bodyPr wrap="square" lIns="0" tIns="0" rIns="0" bIns="0" rtlCol="0" anchor="t"/>
          <a:lstStyle/>
          <a:p>
            <a:pPr indent="0" marL="0">
              <a:buNone/>
            </a:pPr>
            <a:r>
              <a:rPr lang="en-US" sz="1500" dirty="0">
                <a:solidFill>
                  <a:schemeClr val="tx1"/>
                </a:solidFill>
              </a:rPr>
              <a:t>the table memory for single-level versus multi-level</a:t>
            </a:r>
            <a:endParaRPr lang="en-US" sz="1500" dirty="0"/>
          </a:p>
        </p:txBody>
      </p:sp>
      <p:sp>
        <p:nvSpPr>
          <p:cNvPr id="9" name="Text 5"/>
          <p:cNvSpPr txBox="1"/>
          <p:nvPr/>
        </p:nvSpPr>
        <p:spPr>
          <a:xfrm>
            <a:off x="8229600" y="3657600"/>
            <a:ext cx="338328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4x</a:t>
            </a:r>
            <a:endParaRPr lang="en-US" sz="5400" dirty="0"/>
          </a:p>
        </p:txBody>
      </p:sp>
      <p:sp>
        <p:nvSpPr>
          <p:cNvPr id="10" name="Text 6"/>
          <p:cNvSpPr txBox="1"/>
          <p:nvPr/>
        </p:nvSpPr>
        <p:spPr>
          <a:xfrm>
            <a:off x="8229600" y="4617720"/>
            <a:ext cx="3383280" cy="822960"/>
          </a:xfrm>
          <a:prstGeom prst="rect">
            <a:avLst/>
          </a:prstGeom>
          <a:noFill/>
          <a:ln/>
        </p:spPr>
        <p:txBody>
          <a:bodyPr wrap="square" lIns="0" tIns="0" rIns="0" bIns="0" rtlCol="0" anchor="t"/>
          <a:lstStyle/>
          <a:p>
            <a:pPr indent="0" marL="0">
              <a:buNone/>
            </a:pPr>
            <a:r>
              <a:rPr lang="en-US" sz="1500" dirty="0">
                <a:solidFill>
                  <a:schemeClr val="tx1"/>
                </a:solidFill>
              </a:rPr>
              <a:t>the memory reads for multi-level: the price of being small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1 · COMPARISON</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Page size and locality drive latency</a:t>
            </a:r>
            <a:endParaRPr lang="en-US" sz="3000" dirty="0"/>
          </a:p>
        </p:txBody>
      </p:sp>
      <p:graphicFrame>
        <p:nvGraphicFramePr>
          <p:cNvPr id="5" name="Chart 0" descr=""/>
          <p:cNvGraphicFramePr/>
          <p:nvPr/>
        </p:nvGraphicFramePr>
        <p:xfrm>
          <a:off x="457200" y="1508760"/>
          <a:ext cx="557784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72200" y="1508760"/>
          <a:ext cx="5577840" cy="397764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548640" y="5577840"/>
            <a:ext cx="5394960" cy="685800"/>
          </a:xfrm>
          <a:prstGeom prst="rect">
            <a:avLst/>
          </a:prstGeom>
          <a:noFill/>
          <a:ln/>
        </p:spPr>
        <p:txBody>
          <a:bodyPr wrap="square" lIns="0" tIns="0" rIns="0" bIns="0" rtlCol="0" anchor="t"/>
          <a:lstStyle/>
          <a:p>
            <a:pPr indent="0" marL="0">
              <a:buNone/>
            </a:pPr>
            <a:r>
              <a:rPr lang="en-US" sz="1500" dirty="0">
                <a:solidFill>
                  <a:schemeClr val="tx1"/>
                </a:solidFill>
              </a:rPr>
              <a:t>Multi-level: 245.2 cycles at 4 KB, 135.7 at 64 KB, about 1 at 2 MB.</a:t>
            </a:r>
            <a:endParaRPr lang="en-US" sz="1500" dirty="0"/>
          </a:p>
        </p:txBody>
      </p:sp>
      <p:sp>
        <p:nvSpPr>
          <p:cNvPr id="8" name="Text 3"/>
          <p:cNvSpPr txBox="1"/>
          <p:nvPr/>
        </p:nvSpPr>
        <p:spPr>
          <a:xfrm>
            <a:off x="6263640" y="5577840"/>
            <a:ext cx="5394960" cy="685800"/>
          </a:xfrm>
          <a:prstGeom prst="rect">
            <a:avLst/>
          </a:prstGeom>
          <a:noFill/>
          <a:ln/>
        </p:spPr>
        <p:txBody>
          <a:bodyPr wrap="square" lIns="0" tIns="0" rIns="0" bIns="0" rtlCol="0" anchor="t"/>
          <a:lstStyle/>
          <a:p>
            <a:pPr indent="0" marL="0">
              <a:buNone/>
            </a:pPr>
            <a:r>
              <a:rPr lang="en-US" sz="1500" dirty="0">
                <a:solidFill>
                  <a:schemeClr val="tx1"/>
                </a:solidFill>
              </a:rPr>
              <a:t>Sequential access costs under 8 cycles for every table; strided costs multi-level 401.0.</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1 · COMPARISON</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TLB sets how often you miss; the table sets the price</a:t>
            </a:r>
            <a:endParaRPr lang="en-US" sz="3000" dirty="0"/>
          </a:p>
        </p:txBody>
      </p:sp>
      <p:graphicFrame>
        <p:nvGraphicFramePr>
          <p:cNvPr id="5" name="Chart 0" descr=""/>
          <p:cNvGraphicFramePr/>
          <p:nvPr/>
        </p:nvGraphicFramePr>
        <p:xfrm>
          <a:off x="457200" y="1508760"/>
          <a:ext cx="557784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72200" y="1508760"/>
          <a:ext cx="5577840" cy="397764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548640" y="5577840"/>
            <a:ext cx="5394960" cy="685800"/>
          </a:xfrm>
          <a:prstGeom prst="rect">
            <a:avLst/>
          </a:prstGeom>
          <a:noFill/>
          <a:ln/>
        </p:spPr>
        <p:txBody>
          <a:bodyPr wrap="square" lIns="0" tIns="0" rIns="0" bIns="0" rtlCol="0" anchor="t"/>
          <a:lstStyle/>
          <a:p>
            <a:pPr indent="0" marL="0">
              <a:buNone/>
            </a:pPr>
            <a:r>
              <a:rPr lang="en-US" sz="1500" dirty="0">
                <a:solidFill>
                  <a:schemeClr val="tx1"/>
                </a:solidFill>
              </a:rPr>
              <a:t>All four lines coincide: hit rate goes from 0 to 0.78 whatever the table.</a:t>
            </a:r>
            <a:endParaRPr lang="en-US" sz="1500" dirty="0"/>
          </a:p>
        </p:txBody>
      </p:sp>
      <p:sp>
        <p:nvSpPr>
          <p:cNvPr id="8" name="Text 3"/>
          <p:cNvSpPr txBox="1"/>
          <p:nvPr/>
        </p:nvSpPr>
        <p:spPr>
          <a:xfrm>
            <a:off x="6263640" y="5577840"/>
            <a:ext cx="5394960" cy="685800"/>
          </a:xfrm>
          <a:prstGeom prst="rect">
            <a:avLst/>
          </a:prstGeom>
          <a:noFill/>
          <a:ln/>
        </p:spPr>
        <p:txBody>
          <a:bodyPr wrap="square" lIns="0" tIns="0" rIns="0" bIns="0" rtlCol="0" anchor="t"/>
          <a:lstStyle/>
          <a:p>
            <a:pPr indent="0" marL="0">
              <a:buNone/>
            </a:pPr>
            <a:r>
              <a:rPr lang="en-US" sz="1500" dirty="0">
                <a:solidFill>
                  <a:schemeClr val="tx1"/>
                </a:solidFill>
              </a:rPr>
              <a:t>Hashed rises 68.3 to 73.0 cycles as one shared table fills up; per-process tables stay flat.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1 · COMPARISON</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Each table's size follows something different</a:t>
            </a:r>
            <a:endParaRPr lang="en-US" sz="3000" dirty="0"/>
          </a:p>
        </p:txBody>
      </p:sp>
      <p:graphicFrame>
        <p:nvGraphicFramePr>
          <p:cNvPr id="5" name="Chart 0" descr=""/>
          <p:cNvGraphicFramePr/>
          <p:nvPr/>
        </p:nvGraphicFramePr>
        <p:xfrm>
          <a:off x="457200" y="1508760"/>
          <a:ext cx="7315200" cy="46634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138160" y="1719072"/>
            <a:ext cx="237744" cy="237744"/>
          </a:xfrm>
          <a:prstGeom prst="ellipse">
            <a:avLst/>
          </a:prstGeom>
          <a:solidFill>
            <a:srgbClr val="2A78D6"/>
          </a:solidFill>
          <a:ln w="12700">
            <a:solidFill>
              <a:srgbClr val="2A78D6"/>
            </a:solidFill>
            <a:prstDash val="solid"/>
          </a:ln>
        </p:spPr>
      </p:sp>
      <p:sp>
        <p:nvSpPr>
          <p:cNvPr id="7" name="Text 3"/>
          <p:cNvSpPr txBox="1"/>
          <p:nvPr/>
        </p:nvSpPr>
        <p:spPr>
          <a:xfrm>
            <a:off x="8503920" y="1645920"/>
            <a:ext cx="3108960" cy="365760"/>
          </a:xfrm>
          <a:prstGeom prst="rect">
            <a:avLst/>
          </a:prstGeom>
          <a:noFill/>
          <a:ln/>
        </p:spPr>
        <p:txBody>
          <a:bodyPr wrap="square" lIns="0" tIns="0" rIns="0" bIns="0" rtlCol="0" anchor="t"/>
          <a:lstStyle/>
          <a:p>
            <a:pPr indent="0" marL="0">
              <a:buNone/>
            </a:pPr>
            <a:r>
              <a:rPr lang="en-US" sz="1700" b="1" dirty="0">
                <a:solidFill>
                  <a:schemeClr val="tx1"/>
                </a:solidFill>
              </a:rPr>
              <a:t>Single-level</a:t>
            </a:r>
            <a:endParaRPr lang="en-US" sz="1700" dirty="0"/>
          </a:p>
        </p:txBody>
      </p:sp>
      <p:sp>
        <p:nvSpPr>
          <p:cNvPr id="8" name="Text 4"/>
          <p:cNvSpPr txBox="1"/>
          <p:nvPr/>
        </p:nvSpPr>
        <p:spPr>
          <a:xfrm>
            <a:off x="8503920" y="2029968"/>
            <a:ext cx="3108960" cy="640080"/>
          </a:xfrm>
          <a:prstGeom prst="rect">
            <a:avLst/>
          </a:prstGeom>
          <a:noFill/>
          <a:ln/>
        </p:spPr>
        <p:txBody>
          <a:bodyPr wrap="square" lIns="0" tIns="0" rIns="0" bIns="0" rtlCol="0" anchor="t"/>
          <a:lstStyle/>
          <a:p>
            <a:pPr indent="0" marL="0">
              <a:buNone/>
            </a:pPr>
            <a:r>
              <a:rPr lang="en-US" sz="1400" dirty="0">
                <a:solidFill>
                  <a:schemeClr val="tx2"/>
                </a:solidFill>
              </a:rPr>
              <a:t>follows the address span: 2.0 MiB → 512 MiB</a:t>
            </a:r>
            <a:endParaRPr lang="en-US" sz="1400" dirty="0"/>
          </a:p>
        </p:txBody>
      </p:sp>
      <p:sp>
        <p:nvSpPr>
          <p:cNvPr id="9" name="Shape 5"/>
          <p:cNvSpPr/>
          <p:nvPr/>
        </p:nvSpPr>
        <p:spPr>
          <a:xfrm>
            <a:off x="8138160" y="2834640"/>
            <a:ext cx="237744" cy="237744"/>
          </a:xfrm>
          <a:prstGeom prst="ellipse">
            <a:avLst/>
          </a:prstGeom>
          <a:solidFill>
            <a:srgbClr val="EDA100"/>
          </a:solidFill>
          <a:ln w="12700">
            <a:solidFill>
              <a:srgbClr val="EDA100"/>
            </a:solidFill>
            <a:prstDash val="solid"/>
          </a:ln>
        </p:spPr>
      </p:sp>
      <p:sp>
        <p:nvSpPr>
          <p:cNvPr id="10" name="Text 6"/>
          <p:cNvSpPr txBox="1"/>
          <p:nvPr/>
        </p:nvSpPr>
        <p:spPr>
          <a:xfrm>
            <a:off x="8503920" y="2761488"/>
            <a:ext cx="3108960" cy="365760"/>
          </a:xfrm>
          <a:prstGeom prst="rect">
            <a:avLst/>
          </a:prstGeom>
          <a:noFill/>
          <a:ln/>
        </p:spPr>
        <p:txBody>
          <a:bodyPr wrap="square" lIns="0" tIns="0" rIns="0" bIns="0" rtlCol="0" anchor="t"/>
          <a:lstStyle/>
          <a:p>
            <a:pPr indent="0" marL="0">
              <a:buNone/>
            </a:pPr>
            <a:r>
              <a:rPr lang="en-US" sz="1700" b="1" dirty="0">
                <a:solidFill>
                  <a:schemeClr val="tx1"/>
                </a:solidFill>
              </a:rPr>
              <a:t>Inverted</a:t>
            </a:r>
            <a:endParaRPr lang="en-US" sz="1700" dirty="0"/>
          </a:p>
        </p:txBody>
      </p:sp>
      <p:sp>
        <p:nvSpPr>
          <p:cNvPr id="11" name="Text 7"/>
          <p:cNvSpPr txBox="1"/>
          <p:nvPr/>
        </p:nvSpPr>
        <p:spPr>
          <a:xfrm>
            <a:off x="8503920" y="3145536"/>
            <a:ext cx="3108960" cy="640080"/>
          </a:xfrm>
          <a:prstGeom prst="rect">
            <a:avLst/>
          </a:prstGeom>
          <a:noFill/>
          <a:ln/>
        </p:spPr>
        <p:txBody>
          <a:bodyPr wrap="square" lIns="0" tIns="0" rIns="0" bIns="0" rtlCol="0" anchor="t"/>
          <a:lstStyle/>
          <a:p>
            <a:pPr indent="0" marL="0">
              <a:buNone/>
            </a:pPr>
            <a:r>
              <a:rPr lang="en-US" sz="1400" dirty="0">
                <a:solidFill>
                  <a:schemeClr val="tx2"/>
                </a:solidFill>
              </a:rPr>
              <a:t>follows physical memory: 2.5 MiB → 80 MiB</a:t>
            </a:r>
            <a:endParaRPr lang="en-US" sz="1400" dirty="0"/>
          </a:p>
        </p:txBody>
      </p:sp>
      <p:sp>
        <p:nvSpPr>
          <p:cNvPr id="12" name="Shape 8"/>
          <p:cNvSpPr/>
          <p:nvPr/>
        </p:nvSpPr>
        <p:spPr>
          <a:xfrm>
            <a:off x="8138160" y="3950208"/>
            <a:ext cx="237744" cy="237744"/>
          </a:xfrm>
          <a:prstGeom prst="ellipse">
            <a:avLst/>
          </a:prstGeom>
          <a:solidFill>
            <a:srgbClr val="1BAF7A"/>
          </a:solidFill>
          <a:ln w="12700">
            <a:solidFill>
              <a:srgbClr val="1BAF7A"/>
            </a:solidFill>
            <a:prstDash val="solid"/>
          </a:ln>
        </p:spPr>
      </p:sp>
      <p:sp>
        <p:nvSpPr>
          <p:cNvPr id="13" name="Text 9"/>
          <p:cNvSpPr txBox="1"/>
          <p:nvPr/>
        </p:nvSpPr>
        <p:spPr>
          <a:xfrm>
            <a:off x="8503920" y="3877056"/>
            <a:ext cx="3108960" cy="365760"/>
          </a:xfrm>
          <a:prstGeom prst="rect">
            <a:avLst/>
          </a:prstGeom>
          <a:noFill/>
          <a:ln/>
        </p:spPr>
        <p:txBody>
          <a:bodyPr wrap="square" lIns="0" tIns="0" rIns="0" bIns="0" rtlCol="0" anchor="t"/>
          <a:lstStyle/>
          <a:p>
            <a:pPr indent="0" marL="0">
              <a:buNone/>
            </a:pPr>
            <a:r>
              <a:rPr lang="en-US" sz="1700" b="1" dirty="0">
                <a:solidFill>
                  <a:schemeClr val="tx1"/>
                </a:solidFill>
              </a:rPr>
              <a:t>Hashed</a:t>
            </a:r>
            <a:endParaRPr lang="en-US" sz="1700" dirty="0"/>
          </a:p>
        </p:txBody>
      </p:sp>
      <p:sp>
        <p:nvSpPr>
          <p:cNvPr id="14" name="Text 10"/>
          <p:cNvSpPr txBox="1"/>
          <p:nvPr/>
        </p:nvSpPr>
        <p:spPr>
          <a:xfrm>
            <a:off x="8503920" y="4261104"/>
            <a:ext cx="3108960" cy="640080"/>
          </a:xfrm>
          <a:prstGeom prst="rect">
            <a:avLst/>
          </a:prstGeom>
          <a:noFill/>
          <a:ln/>
        </p:spPr>
        <p:txBody>
          <a:bodyPr wrap="square" lIns="0" tIns="0" rIns="0" bIns="0" rtlCol="0" anchor="t"/>
          <a:lstStyle/>
          <a:p>
            <a:pPr indent="0" marL="0">
              <a:buNone/>
            </a:pPr>
            <a:r>
              <a:rPr lang="en-US" sz="1400" dirty="0">
                <a:solidFill>
                  <a:schemeClr val="tx2"/>
                </a:solidFill>
              </a:rPr>
              <a:t>follows its bucket array: 608 KiB → 16 MiB</a:t>
            </a:r>
            <a:endParaRPr lang="en-US" sz="1400" dirty="0"/>
          </a:p>
        </p:txBody>
      </p:sp>
      <p:sp>
        <p:nvSpPr>
          <p:cNvPr id="15" name="Shape 11"/>
          <p:cNvSpPr/>
          <p:nvPr/>
        </p:nvSpPr>
        <p:spPr>
          <a:xfrm>
            <a:off x="8138160" y="5065776"/>
            <a:ext cx="237744" cy="237744"/>
          </a:xfrm>
          <a:prstGeom prst="ellipse">
            <a:avLst/>
          </a:prstGeom>
          <a:solidFill>
            <a:srgbClr val="EB6834"/>
          </a:solidFill>
          <a:ln w="12700">
            <a:solidFill>
              <a:srgbClr val="EB6834"/>
            </a:solidFill>
            <a:prstDash val="solid"/>
          </a:ln>
        </p:spPr>
      </p:sp>
      <p:sp>
        <p:nvSpPr>
          <p:cNvPr id="16" name="Text 12"/>
          <p:cNvSpPr txBox="1"/>
          <p:nvPr/>
        </p:nvSpPr>
        <p:spPr>
          <a:xfrm>
            <a:off x="8503920" y="4992624"/>
            <a:ext cx="3108960" cy="365760"/>
          </a:xfrm>
          <a:prstGeom prst="rect">
            <a:avLst/>
          </a:prstGeom>
          <a:noFill/>
          <a:ln/>
        </p:spPr>
        <p:txBody>
          <a:bodyPr wrap="square" lIns="0" tIns="0" rIns="0" bIns="0" rtlCol="0" anchor="t"/>
          <a:lstStyle/>
          <a:p>
            <a:pPr indent="0" marL="0">
              <a:buNone/>
            </a:pPr>
            <a:r>
              <a:rPr lang="en-US" sz="1700" b="1" dirty="0">
                <a:solidFill>
                  <a:schemeClr val="tx1"/>
                </a:solidFill>
              </a:rPr>
              <a:t>Multi-level</a:t>
            </a:r>
            <a:endParaRPr lang="en-US" sz="1700" dirty="0"/>
          </a:p>
        </p:txBody>
      </p:sp>
      <p:sp>
        <p:nvSpPr>
          <p:cNvPr id="17" name="Text 13"/>
          <p:cNvSpPr txBox="1"/>
          <p:nvPr/>
        </p:nvSpPr>
        <p:spPr>
          <a:xfrm>
            <a:off x="8503920" y="5376672"/>
            <a:ext cx="3108960" cy="640080"/>
          </a:xfrm>
          <a:prstGeom prst="rect">
            <a:avLst/>
          </a:prstGeom>
          <a:noFill/>
          <a:ln/>
        </p:spPr>
        <p:txBody>
          <a:bodyPr wrap="square" lIns="0" tIns="0" rIns="0" bIns="0" rtlCol="0" anchor="t"/>
          <a:lstStyle/>
          <a:p>
            <a:pPr indent="0" marL="0">
              <a:buNone/>
            </a:pPr>
            <a:r>
              <a:rPr lang="en-US" sz="1400" dirty="0">
                <a:solidFill>
                  <a:schemeClr val="tx2"/>
                </a:solidFill>
              </a:rPr>
              <a:t>follows only what is mapped: under 72 KiB</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2 · OS STUDY</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hardware decides the table; the OS decides the page size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651760"/>
                <a:gridCol w="1188720"/>
                <a:gridCol w="3474720"/>
                <a:gridCol w="374904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Operating system</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CPU</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Page table (set by the CPU)</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Page size (set by the OS)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Windows x64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x86-64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multi-level, 4 levels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4 KB; 2 MB large pages on request</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Linux x86-64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x86-64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multi-level, 4 or 5 levels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4 KB; transparent 2 MB huge pages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macOS, Apple Silicon</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Arm</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multi-level</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16 KB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Android</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Arm</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multi-level</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4 KB, 16 KB from Android 15</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Linux ARM64 servers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Arm</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multi-level</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4 KB or 64 KB, chosen at build</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Linux on IBM POWER9</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POWER</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radix by default, or hashed</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64 KB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892040"/>
            <a:ext cx="11064240" cy="1188720"/>
          </a:xfrm>
          <a:prstGeom prst="roundRect">
            <a:avLst>
              <a:gd name="adj" fmla="val 6154"/>
            </a:avLst>
          </a:prstGeom>
          <a:solidFill>
            <a:schemeClr val="bg2"/>
          </a:solidFill>
          <a:ln w="12700">
            <a:solidFill>
              <a:schemeClr val="bg2"/>
            </a:solidFill>
            <a:prstDash val="solid"/>
          </a:ln>
        </p:spPr>
      </p:sp>
      <p:sp>
        <p:nvSpPr>
          <p:cNvPr id="7" name="Text 3"/>
          <p:cNvSpPr txBox="1"/>
          <p:nvPr/>
        </p:nvSpPr>
        <p:spPr>
          <a:xfrm>
            <a:off x="777240" y="5074920"/>
            <a:ext cx="10607040" cy="822960"/>
          </a:xfrm>
          <a:prstGeom prst="rect">
            <a:avLst/>
          </a:prstGeom>
          <a:noFill/>
          <a:ln/>
        </p:spPr>
        <p:txBody>
          <a:bodyPr wrap="square" lIns="0" tIns="0" rIns="0" bIns="0" rtlCol="0" anchor="ctr"/>
          <a:lstStyle/>
          <a:p>
            <a:pPr indent="0" marL="0">
              <a:buNone/>
            </a:pPr>
            <a:r>
              <a:rPr lang="en-US" sz="1800" b="1" dirty="0">
                <a:solidFill>
                  <a:schemeClr val="tx1"/>
                </a:solidFill>
              </a:rPr>
              <a:t>Every mainstream OS uses a multi-level table because the CPU walks it in hardware. Only POWER9 lets the OS choose another organization.</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2 · OS STUDY</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Why each OS chose its page size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737360"/>
                <a:gridCol w="2926080"/>
                <a:gridCol w="2926080"/>
                <a:gridCol w="347472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Upside</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Downside</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Windows x64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Fine-grained memory for many desktop processes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7A55"/>
                          </a:solidFill>
                          <a:latin typeface="Calibri" pitchFamily="34" charset="0"/>
                          <a:ea typeface="Calibri" pitchFamily="34" charset="-122"/>
                          <a:cs typeface="Calibri" pitchFamily="34" charset="-120"/>
                        </a:rPr>
                        <a:t>Low waste; pages swap individually</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A33A12"/>
                          </a:solidFill>
                          <a:latin typeface="Calibri" pitchFamily="34" charset="0"/>
                          <a:ea typeface="Calibri" pitchFamily="34" charset="-122"/>
                          <a:cs typeface="Calibri" pitchFamily="34" charset="-120"/>
                        </a:rPr>
                        <a:t>Little TLB reach; large pages need privilege and contiguous RAM</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Linux x86-64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Low waste by default, reach where it pays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7A55"/>
                          </a:solidFill>
                          <a:latin typeface="Calibri" pitchFamily="34" charset="0"/>
                          <a:ea typeface="Calibri" pitchFamily="34" charset="-122"/>
                          <a:cs typeface="Calibri" pitchFamily="34" charset="-120"/>
                        </a:rPr>
                        <a:t>Huge pages with no app changes (THP)</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A33A12"/>
                          </a:solidFill>
                          <a:latin typeface="Calibri" pitchFamily="34" charset="0"/>
                          <a:ea typeface="Calibri" pitchFamily="34" charset="-122"/>
                          <a:cs typeface="Calibri" pitchFamily="34" charset="-120"/>
                        </a:rPr>
                        <a:t>THP can cause latency spikes and memory bloat</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macOS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Apple controls chip and OS together</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7A55"/>
                          </a:solidFill>
                          <a:latin typeface="Calibri" pitchFamily="34" charset="0"/>
                          <a:ea typeface="Calibri" pitchFamily="34" charset="-122"/>
                          <a:cs typeface="Calibri" pitchFamily="34" charset="-120"/>
                        </a:rPr>
                        <a:t>4x the TLB reach of 4 KB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A33A12"/>
                          </a:solidFill>
                          <a:latin typeface="Calibri" pitchFamily="34" charset="0"/>
                          <a:ea typeface="Calibri" pitchFamily="34" charset="-122"/>
                          <a:cs typeface="Calibri" pitchFamily="34" charset="-120"/>
                        </a:rPr>
                        <a:t>More rounding waste; 4 KB-era software had to adapt</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Android</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App ecosystem was built on 4 KB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7A55"/>
                          </a:solidFill>
                          <a:latin typeface="Calibri" pitchFamily="34" charset="0"/>
                          <a:ea typeface="Calibri" pitchFamily="34" charset="-122"/>
                          <a:cs typeface="Calibri" pitchFamily="34" charset="-120"/>
                        </a:rPr>
                        <a:t>16 KB: launch 3.2% and boot 8% faster</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A33A12"/>
                          </a:solidFill>
                          <a:latin typeface="Calibri" pitchFamily="34" charset="0"/>
                          <a:ea typeface="Calibri" pitchFamily="34" charset="-122"/>
                          <a:cs typeface="Calibri" pitchFamily="34" charset="-120"/>
                        </a:rPr>
                        <a:t>16 KB: slightly more memory; libraries rebuilt</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Linux ARM64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Arm offers 4, 16 and 64 KB granules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7A55"/>
                          </a:solidFill>
                          <a:latin typeface="Calibri" pitchFamily="34" charset="0"/>
                          <a:ea typeface="Calibri" pitchFamily="34" charset="-122"/>
                          <a:cs typeface="Calibri" pitchFamily="34" charset="-120"/>
                        </a:rPr>
                        <a:t>64 KB: fewer levels, 16x reach</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A33A12"/>
                          </a:solidFill>
                          <a:latin typeface="Calibri" pitchFamily="34" charset="0"/>
                          <a:ea typeface="Calibri" pitchFamily="34" charset="-122"/>
                          <a:cs typeface="Calibri" pitchFamily="34" charset="-120"/>
                        </a:rPr>
                        <a:t>Up to 64 KB waste per allocation; fixed per build</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bl>
          </a:graphicData>
        </a:graphic>
      </p:graphicFrame>
      <p:sp>
        <p:nvSpPr>
          <p:cNvPr id="6" name="Text 2"/>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100" dirty="0">
                <a:solidFill>
                  <a:srgbClr val="8A93A0"/>
                </a:solidFill>
              </a:rPr>
              <a:t>Sources: Microsoft Learn, Linux kernel docs, Apple WWDC20, Android Developers (16 KB page sizes). Full list in the report.</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2 · OS STUDY</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POWER9: the one platform where the OS can switch</a:t>
            </a:r>
            <a:endParaRPr lang="en-US" sz="3000" dirty="0"/>
          </a:p>
        </p:txBody>
      </p:sp>
      <p:sp>
        <p:nvSpPr>
          <p:cNvPr id="5" name="Shape 2"/>
          <p:cNvSpPr/>
          <p:nvPr/>
        </p:nvSpPr>
        <p:spPr>
          <a:xfrm>
            <a:off x="548640" y="1600200"/>
            <a:ext cx="5394960" cy="2514600"/>
          </a:xfrm>
          <a:prstGeom prst="roundRect">
            <a:avLst>
              <a:gd name="adj" fmla="val 2909"/>
            </a:avLst>
          </a:prstGeom>
          <a:solidFill>
            <a:schemeClr val="bg2"/>
          </a:solidFill>
          <a:ln w="12700">
            <a:solidFill>
              <a:schemeClr val="bg2"/>
            </a:solidFill>
            <a:prstDash val="solid"/>
          </a:ln>
        </p:spPr>
      </p:sp>
      <p:sp>
        <p:nvSpPr>
          <p:cNvPr id="6" name="Text 3"/>
          <p:cNvSpPr txBox="1"/>
          <p:nvPr/>
        </p:nvSpPr>
        <p:spPr>
          <a:xfrm>
            <a:off x="777240" y="1783080"/>
            <a:ext cx="49377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Hashed page table</a:t>
            </a:r>
            <a:endParaRPr lang="en-US" sz="2000" dirty="0"/>
          </a:p>
        </p:txBody>
      </p:sp>
      <p:sp>
        <p:nvSpPr>
          <p:cNvPr id="7" name="Text 4"/>
          <p:cNvSpPr txBox="1"/>
          <p:nvPr/>
        </p:nvSpPr>
        <p:spPr>
          <a:xfrm>
            <a:off x="777240" y="2286000"/>
            <a:ext cx="4937760" cy="17373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rPr>
              <a:t>Traditional on POWER; still available at boot (disable_radix)</a:t>
            </a:r>
            <a:endParaRPr lang="en-US" sz="1500" dirty="0"/>
          </a:p>
          <a:p>
            <a:pPr marL="203200" indent="-203200">
              <a:spcAft>
                <a:spcPts val="800"/>
              </a:spcAft>
              <a:buSzPct val="100000"/>
              <a:buChar char="•"/>
            </a:pPr>
            <a:r>
              <a:rPr lang="en-US" sz="1500" dirty="0">
                <a:solidFill>
                  <a:schemeClr val="tx2"/>
                </a:solidFill>
              </a:rPr>
              <a:t>About two cache-line reads per translation</a:t>
            </a:r>
            <a:endParaRPr lang="en-US" sz="1500" dirty="0"/>
          </a:p>
          <a:p>
            <a:pPr marL="203200" indent="-203200">
              <a:spcAft>
                <a:spcPts val="800"/>
              </a:spcAft>
              <a:buSzPct val="100000"/>
              <a:buChar char="•"/>
            </a:pPr>
            <a:r>
              <a:rPr lang="en-US" sz="1500" dirty="0">
                <a:solidFill>
                  <a:schemeClr val="tx2"/>
                </a:solidFill>
              </a:rPr>
              <a:t>Entries scatter, so most misses go to main memory</a:t>
            </a:r>
            <a:endParaRPr lang="en-US" sz="1500" dirty="0"/>
          </a:p>
        </p:txBody>
      </p:sp>
      <p:sp>
        <p:nvSpPr>
          <p:cNvPr id="8" name="Shape 5"/>
          <p:cNvSpPr/>
          <p:nvPr/>
        </p:nvSpPr>
        <p:spPr>
          <a:xfrm>
            <a:off x="6217920" y="1600200"/>
            <a:ext cx="5394960" cy="2514600"/>
          </a:xfrm>
          <a:prstGeom prst="roundRect">
            <a:avLst>
              <a:gd name="adj" fmla="val 2909"/>
            </a:avLst>
          </a:prstGeom>
          <a:solidFill>
            <a:schemeClr val="bg2"/>
          </a:solidFill>
          <a:ln w="12700">
            <a:solidFill>
              <a:schemeClr val="bg2"/>
            </a:solidFill>
            <a:prstDash val="solid"/>
          </a:ln>
        </p:spPr>
      </p:sp>
      <p:sp>
        <p:nvSpPr>
          <p:cNvPr id="9" name="Text 6"/>
          <p:cNvSpPr txBox="1"/>
          <p:nvPr/>
        </p:nvSpPr>
        <p:spPr>
          <a:xfrm>
            <a:off x="6446520" y="1783080"/>
            <a:ext cx="49377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Radix tree (default)</a:t>
            </a:r>
            <a:endParaRPr lang="en-US" sz="2000" dirty="0"/>
          </a:p>
        </p:txBody>
      </p:sp>
      <p:sp>
        <p:nvSpPr>
          <p:cNvPr id="10" name="Text 7"/>
          <p:cNvSpPr txBox="1"/>
          <p:nvPr/>
        </p:nvSpPr>
        <p:spPr>
          <a:xfrm>
            <a:off x="6446520" y="2286000"/>
            <a:ext cx="4937760" cy="17373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rPr>
              <a:t>Added in Power ISA 3.0; hardware walks Linux's own tables</a:t>
            </a:r>
            <a:endParaRPr lang="en-US" sz="1500" dirty="0"/>
          </a:p>
          <a:p>
            <a:pPr marL="203200" indent="-203200">
              <a:spcAft>
                <a:spcPts val="800"/>
              </a:spcAft>
              <a:buSzPct val="100000"/>
              <a:buChar char="•"/>
            </a:pPr>
            <a:r>
              <a:rPr lang="en-US" sz="1500" dirty="0">
                <a:solidFill>
                  <a:schemeClr val="tx2"/>
                </a:solidFill>
              </a:rPr>
              <a:t>Neighbouring entries share cache lines</a:t>
            </a:r>
            <a:endParaRPr lang="en-US" sz="1500" dirty="0"/>
          </a:p>
          <a:p>
            <a:pPr marL="203200" indent="-203200">
              <a:spcAft>
                <a:spcPts val="800"/>
              </a:spcAft>
              <a:buSzPct val="100000"/>
              <a:buChar char="•"/>
            </a:pPr>
            <a:r>
              <a:rPr lang="en-US" sz="1500" dirty="0">
                <a:solidFill>
                  <a:schemeClr val="tx2"/>
                </a:solidFill>
              </a:rPr>
              <a:t>Linux default, with 64 KB pages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64240" cy="914400"/>
        </p:xfrm>
        <a:graphic>
          <a:graphicData uri="http://schemas.openxmlformats.org/drawingml/2006/table">
            <a:tbl>
              <a:tblPr/>
              <a:tblGrid>
                <a:gridCol w="3017520"/>
                <a:gridCol w="2011680"/>
                <a:gridCol w="2011680"/>
                <a:gridCol w="2011680"/>
                <a:gridCol w="201168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Our model, 64 KB pages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Radix latency</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Hashed latency</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Radix memory</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Hashed memory</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r>
              <a:tr h="0">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1 process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135.7</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50.9</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512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262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16 processes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142.9</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56.0</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9.1 MiB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352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500" i="1" dirty="0">
                <a:solidFill>
                  <a:schemeClr val="tx1"/>
                </a:solidFill>
              </a:rPr>
              <a:t>IBM: radix “is expected to be more efficient than HPT translation for workloads with high locality of references.”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3 · WHAT IF</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Switching organization: faster in the model, but not possible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017520"/>
                <a:gridCol w="1828800"/>
                <a:gridCol w="1645920"/>
                <a:gridCol w="2286000"/>
                <a:gridCol w="2286000"/>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Option</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Latency</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Change</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Memory, 1 process</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Memory, 16 processes</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r>
              <a:tr h="0">
                <a:tc>
                  <a:txBody>
                    <a:bodyPr/>
                    <a:lstStyle/>
                    <a:p>
                      <a:pPr algn="l" indent="0" marL="0">
                        <a:buNone/>
                      </a:pPr>
                      <a:r>
                        <a:rPr lang="en-US" sz="1600" b="1" dirty="0">
                          <a:solidFill>
                            <a:srgbClr val="16202E"/>
                          </a:solidFill>
                          <a:latin typeface="Calibri" pitchFamily="34" charset="0"/>
                          <a:ea typeface="Calibri" pitchFamily="34" charset="-122"/>
                          <a:cs typeface="Calibri" pitchFamily="34" charset="-120"/>
                        </a:rPr>
                        <a:t>Today: multi-level</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b="1" dirty="0">
                          <a:solidFill>
                            <a:srgbClr val="16202E"/>
                          </a:solidFill>
                          <a:latin typeface="Calibri" pitchFamily="34" charset="0"/>
                          <a:ea typeface="Calibri" pitchFamily="34" charset="-122"/>
                          <a:cs typeface="Calibri" pitchFamily="34" charset="-120"/>
                        </a:rPr>
                        <a:t>245.2</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b="1" dirty="0">
                          <a:solidFill>
                            <a:srgbClr val="16202E"/>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b="1" dirty="0">
                          <a:solidFill>
                            <a:srgbClr val="16202E"/>
                          </a:solidFill>
                          <a:latin typeface="Calibri" pitchFamily="34" charset="0"/>
                          <a:ea typeface="Calibri" pitchFamily="34" charset="-122"/>
                          <a:cs typeface="Calibri" pitchFamily="34" charset="-120"/>
                        </a:rPr>
                        <a:t>60 KiB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b="1" dirty="0">
                          <a:solidFill>
                            <a:srgbClr val="16202E"/>
                          </a:solidFill>
                          <a:latin typeface="Calibri" pitchFamily="34" charset="0"/>
                          <a:ea typeface="Calibri" pitchFamily="34" charset="-122"/>
                          <a:cs typeface="Calibri" pitchFamily="34" charset="-120"/>
                        </a:rPr>
                        <a:t>1.0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600" dirty="0">
                          <a:solidFill>
                            <a:srgbClr val="16202E"/>
                          </a:solidFill>
                          <a:latin typeface="Calibri" pitchFamily="34" charset="0"/>
                          <a:ea typeface="Calibri" pitchFamily="34" charset="-122"/>
                          <a:cs typeface="Calibri" pitchFamily="34" charset="-120"/>
                        </a:rPr>
                        <a:t>Switch to single-level</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62.0</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-75%</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32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512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6202E"/>
                          </a:solidFill>
                          <a:latin typeface="Calibri" pitchFamily="34" charset="0"/>
                          <a:ea typeface="Calibri" pitchFamily="34" charset="-122"/>
                          <a:cs typeface="Calibri" pitchFamily="34" charset="-120"/>
                        </a:rPr>
                        <a:t>Switch to hashed</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68.3</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-72%</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4.1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5.5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600" dirty="0">
                          <a:solidFill>
                            <a:srgbClr val="16202E"/>
                          </a:solidFill>
                          <a:latin typeface="Calibri" pitchFamily="34" charset="0"/>
                          <a:ea typeface="Calibri" pitchFamily="34" charset="-122"/>
                          <a:cs typeface="Calibri" pitchFamily="34" charset="-120"/>
                        </a:rPr>
                        <a:t>Switch to inverted</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129.5</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-47%</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20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6202E"/>
                          </a:solidFill>
                          <a:latin typeface="Calibri" pitchFamily="34" charset="0"/>
                          <a:ea typeface="Calibri" pitchFamily="34" charset="-122"/>
                          <a:cs typeface="Calibri" pitchFamily="34" charset="-120"/>
                        </a:rPr>
                        <a:t>20 MiB</a:t>
                      </a:r>
                      <a:endParaRPr lang="en-US" sz="16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3840480"/>
            <a:ext cx="11064240" cy="365760"/>
          </a:xfrm>
          <a:prstGeom prst="rect">
            <a:avLst/>
          </a:prstGeom>
          <a:noFill/>
          <a:ln/>
        </p:spPr>
        <p:txBody>
          <a:bodyPr wrap="square" lIns="0" tIns="0" rIns="0" bIns="0" rtlCol="0" anchor="t"/>
          <a:lstStyle/>
          <a:p>
            <a:pPr indent="0" marL="0">
              <a:buNone/>
            </a:pPr>
            <a:r>
              <a:rPr lang="en-US" sz="1300" dirty="0">
                <a:solidFill>
                  <a:srgbClr val="8A93A0"/>
                </a:solidFill>
              </a:rPr>
              <a:t>Windows x64, Linux x86-64, Linux ARM64 and Android (all 4 KB multi-level) give identical results.</a:t>
            </a:r>
            <a:endParaRPr lang="en-US" sz="1300" dirty="0"/>
          </a:p>
        </p:txBody>
      </p:sp>
      <p:sp>
        <p:nvSpPr>
          <p:cNvPr id="7" name="Shape 3"/>
          <p:cNvSpPr/>
          <p:nvPr/>
        </p:nvSpPr>
        <p:spPr>
          <a:xfrm>
            <a:off x="548640" y="4343400"/>
            <a:ext cx="3566160" cy="1783080"/>
          </a:xfrm>
          <a:prstGeom prst="roundRect">
            <a:avLst>
              <a:gd name="adj" fmla="val 4103"/>
            </a:avLst>
          </a:prstGeom>
          <a:solidFill>
            <a:schemeClr val="bg2"/>
          </a:solidFill>
          <a:ln w="12700">
            <a:solidFill>
              <a:schemeClr val="bg2"/>
            </a:solidFill>
            <a:prstDash val="solid"/>
          </a:ln>
        </p:spPr>
      </p:sp>
      <p:sp>
        <p:nvSpPr>
          <p:cNvPr id="8" name="Text 4"/>
          <p:cNvSpPr txBox="1"/>
          <p:nvPr/>
        </p:nvSpPr>
        <p:spPr>
          <a:xfrm>
            <a:off x="777240" y="4480560"/>
            <a:ext cx="3108960" cy="365760"/>
          </a:xfrm>
          <a:prstGeom prst="rect">
            <a:avLst/>
          </a:prstGeom>
          <a:noFill/>
          <a:ln/>
        </p:spPr>
        <p:txBody>
          <a:bodyPr wrap="square" lIns="0" tIns="0" rIns="0" bIns="0" rtlCol="0" anchor="t"/>
          <a:lstStyle/>
          <a:p>
            <a:pPr indent="0" marL="0">
              <a:buNone/>
            </a:pPr>
            <a:r>
              <a:rPr lang="en-US" sz="1800" b="1" dirty="0">
                <a:solidFill>
                  <a:srgbClr val="1B7A55"/>
                </a:solidFill>
              </a:rPr>
              <a:t>Gain</a:t>
            </a:r>
            <a:endParaRPr lang="en-US" sz="1800" dirty="0"/>
          </a:p>
        </p:txBody>
      </p:sp>
      <p:sp>
        <p:nvSpPr>
          <p:cNvPr id="9" name="Text 5"/>
          <p:cNvSpPr txBox="1"/>
          <p:nvPr/>
        </p:nvSpPr>
        <p:spPr>
          <a:xfrm>
            <a:off x="777240" y="4892040"/>
            <a:ext cx="3108960" cy="1143000"/>
          </a:xfrm>
          <a:prstGeom prst="rect">
            <a:avLst/>
          </a:prstGeom>
          <a:noFill/>
          <a:ln/>
        </p:spPr>
        <p:txBody>
          <a:bodyPr wrap="square" lIns="0" tIns="0" rIns="0" bIns="0" rtlCol="0" anchor="t"/>
          <a:lstStyle/>
          <a:p>
            <a:pPr indent="0" marL="0">
              <a:buNone/>
            </a:pPr>
            <a:r>
              <a:rPr lang="en-US" sz="1500" dirty="0">
                <a:solidFill>
                  <a:schemeClr val="tx2"/>
                </a:solidFill>
              </a:rPr>
              <a:t>Up to 75% lower modelled latency: multi-level pays 4 reads per miss.</a:t>
            </a:r>
            <a:endParaRPr lang="en-US" sz="1500" dirty="0"/>
          </a:p>
        </p:txBody>
      </p:sp>
      <p:sp>
        <p:nvSpPr>
          <p:cNvPr id="10" name="Shape 6"/>
          <p:cNvSpPr/>
          <p:nvPr/>
        </p:nvSpPr>
        <p:spPr>
          <a:xfrm>
            <a:off x="4297680" y="4343400"/>
            <a:ext cx="3566160" cy="1783080"/>
          </a:xfrm>
          <a:prstGeom prst="roundRect">
            <a:avLst>
              <a:gd name="adj" fmla="val 4103"/>
            </a:avLst>
          </a:prstGeom>
          <a:solidFill>
            <a:schemeClr val="bg2"/>
          </a:solidFill>
          <a:ln w="12700">
            <a:solidFill>
              <a:schemeClr val="bg2"/>
            </a:solidFill>
            <a:prstDash val="solid"/>
          </a:ln>
        </p:spPr>
      </p:sp>
      <p:sp>
        <p:nvSpPr>
          <p:cNvPr id="11" name="Text 7"/>
          <p:cNvSpPr txBox="1"/>
          <p:nvPr/>
        </p:nvSpPr>
        <p:spPr>
          <a:xfrm>
            <a:off x="4526280" y="4480560"/>
            <a:ext cx="3108960" cy="365760"/>
          </a:xfrm>
          <a:prstGeom prst="rect">
            <a:avLst/>
          </a:prstGeom>
          <a:noFill/>
          <a:ln/>
        </p:spPr>
        <p:txBody>
          <a:bodyPr wrap="square" lIns="0" tIns="0" rIns="0" bIns="0" rtlCol="0" anchor="t"/>
          <a:lstStyle/>
          <a:p>
            <a:pPr indent="0" marL="0">
              <a:buNone/>
            </a:pPr>
            <a:r>
              <a:rPr lang="en-US" sz="1800" b="1" dirty="0">
                <a:solidFill>
                  <a:srgbClr val="A33A12"/>
                </a:solidFill>
              </a:rPr>
              <a:t>Loss</a:t>
            </a:r>
            <a:endParaRPr lang="en-US" sz="1800" dirty="0"/>
          </a:p>
        </p:txBody>
      </p:sp>
      <p:sp>
        <p:nvSpPr>
          <p:cNvPr id="12" name="Text 8"/>
          <p:cNvSpPr txBox="1"/>
          <p:nvPr/>
        </p:nvSpPr>
        <p:spPr>
          <a:xfrm>
            <a:off x="4526280" y="4892040"/>
            <a:ext cx="3108960" cy="1143000"/>
          </a:xfrm>
          <a:prstGeom prst="rect">
            <a:avLst/>
          </a:prstGeom>
          <a:noFill/>
          <a:ln/>
        </p:spPr>
        <p:txBody>
          <a:bodyPr wrap="square" lIns="0" tIns="0" rIns="0" bIns="0" rtlCol="0" anchor="t"/>
          <a:lstStyle/>
          <a:p>
            <a:pPr indent="0" marL="0">
              <a:buNone/>
            </a:pPr>
            <a:r>
              <a:rPr lang="en-US" sz="1500" dirty="0">
                <a:solidFill>
                  <a:schemeClr val="tx2"/>
                </a:solidFill>
              </a:rPr>
              <a:t>70x the table memory for hashed; single-level reaches 512 MiB at 16 processes.</a:t>
            </a:r>
            <a:endParaRPr lang="en-US" sz="1500" dirty="0"/>
          </a:p>
        </p:txBody>
      </p:sp>
      <p:sp>
        <p:nvSpPr>
          <p:cNvPr id="13" name="Shape 9"/>
          <p:cNvSpPr/>
          <p:nvPr/>
        </p:nvSpPr>
        <p:spPr>
          <a:xfrm>
            <a:off x="8046720" y="4343400"/>
            <a:ext cx="3566160" cy="1783080"/>
          </a:xfrm>
          <a:prstGeom prst="roundRect">
            <a:avLst>
              <a:gd name="adj" fmla="val 4103"/>
            </a:avLst>
          </a:prstGeom>
          <a:solidFill>
            <a:schemeClr val="bg2"/>
          </a:solidFill>
          <a:ln w="12700">
            <a:solidFill>
              <a:schemeClr val="bg2"/>
            </a:solidFill>
            <a:prstDash val="solid"/>
          </a:ln>
        </p:spPr>
      </p:sp>
      <p:sp>
        <p:nvSpPr>
          <p:cNvPr id="14" name="Text 10"/>
          <p:cNvSpPr txBox="1"/>
          <p:nvPr/>
        </p:nvSpPr>
        <p:spPr>
          <a:xfrm>
            <a:off x="8275320" y="4480560"/>
            <a:ext cx="3108960" cy="365760"/>
          </a:xfrm>
          <a:prstGeom prst="rect">
            <a:avLst/>
          </a:prstGeom>
          <a:noFill/>
          <a:ln/>
        </p:spPr>
        <p:txBody>
          <a:bodyPr wrap="square" lIns="0" tIns="0" rIns="0" bIns="0" rtlCol="0" anchor="t"/>
          <a:lstStyle/>
          <a:p>
            <a:pPr indent="0" marL="0">
              <a:buNone/>
            </a:pPr>
            <a:r>
              <a:rPr lang="en-US" sz="1800" b="1" dirty="0">
                <a:solidFill>
                  <a:srgbClr val="16202E"/>
                </a:solidFill>
              </a:rPr>
              <a:t>Feasible?</a:t>
            </a:r>
            <a:endParaRPr lang="en-US" sz="1800" dirty="0"/>
          </a:p>
        </p:txBody>
      </p:sp>
      <p:sp>
        <p:nvSpPr>
          <p:cNvPr id="15" name="Text 11"/>
          <p:cNvSpPr txBox="1"/>
          <p:nvPr/>
        </p:nvSpPr>
        <p:spPr>
          <a:xfrm>
            <a:off x="8275320" y="4892040"/>
            <a:ext cx="3108960" cy="1143000"/>
          </a:xfrm>
          <a:prstGeom prst="rect">
            <a:avLst/>
          </a:prstGeom>
          <a:noFill/>
          <a:ln/>
        </p:spPr>
        <p:txBody>
          <a:bodyPr wrap="square" lIns="0" tIns="0" rIns="0" bIns="0" rtlCol="0" anchor="t"/>
          <a:lstStyle/>
          <a:p>
            <a:pPr indent="0" marL="0">
              <a:buNone/>
            </a:pPr>
            <a:r>
              <a:rPr lang="en-US" sz="1500" dirty="0">
                <a:solidFill>
                  <a:schemeClr val="tx2"/>
                </a:solidFill>
              </a:rPr>
              <a:t>No. The x86-64 and Arm MMUs walk only radix tables; this needs new hardware.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3 · WHAT IF</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Switching page size: the switch an OS can really make</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94560"/>
                <a:gridCol w="2194560"/>
                <a:gridCol w="1645920"/>
                <a:gridCol w="2377440"/>
                <a:gridCol w="265176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Switch</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Latency</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Table memory</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Worst-case waste, 1000 allocations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6202E"/>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Windows x64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4 KB → 2 MB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-99.6%</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60 KiB → 28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3.9 MiB → 2000 MiB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Linux x86-64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4 KB → 2 MB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-99.6%</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60 KiB → 28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3.9 MiB → 2000 MiB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macOS</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16 KB → 4 KB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176 KiB → 60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16 MiB → 3.9 MiB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Android</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4 KB → 16 KB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60 KiB → 176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3.9 MiB → 16 MiB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Linux ARM64</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4 KB → 64 KB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-45%</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60 KiB → 512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3.9 MiB → 62 MiB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2F4F7"/>
                    </a:solidFill>
                  </a:tcPr>
                </a:tc>
              </a:tr>
              <a:tr h="0">
                <a:tc>
                  <a:txBody>
                    <a:bodyPr/>
                    <a:lstStyle/>
                    <a:p>
                      <a:pPr algn="l" indent="0" marL="0">
                        <a:buNone/>
                      </a:pPr>
                      <a:r>
                        <a:rPr lang="en-US" sz="1500" b="1" dirty="0">
                          <a:solidFill>
                            <a:srgbClr val="16202E"/>
                          </a:solidFill>
                          <a:latin typeface="Calibri" pitchFamily="34" charset="0"/>
                          <a:ea typeface="Calibri" pitchFamily="34" charset="-122"/>
                          <a:cs typeface="Calibri" pitchFamily="34" charset="-120"/>
                        </a:rPr>
                        <a:t>Linux POWER9</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6202E"/>
                          </a:solidFill>
                          <a:latin typeface="Calibri" pitchFamily="34" charset="0"/>
                          <a:ea typeface="Calibri" pitchFamily="34" charset="-122"/>
                          <a:cs typeface="Calibri" pitchFamily="34" charset="-120"/>
                        </a:rPr>
                        <a:t>64 KB → 4 KB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+81%</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512 KiB → 60 KiB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6202E"/>
                          </a:solidFill>
                          <a:latin typeface="Calibri" pitchFamily="34" charset="0"/>
                          <a:ea typeface="Calibri" pitchFamily="34" charset="-122"/>
                          <a:cs typeface="Calibri" pitchFamily="34" charset="-120"/>
                        </a:rPr>
                        <a:t>62 MiB → 3.9 MiB</a:t>
                      </a:r>
                      <a:endParaRPr lang="en-US" sz="1500" dirty="0">
                        <a:latin typeface="Calibri" charset="0"/>
                        <a:ea typeface="Calibri" charset="0"/>
                        <a:cs typeface="Calibri" charset="0"/>
                      </a:endParaRPr>
                    </a:p>
                  </a:txBody>
                  <a:tcPr marL="101600" marR="101600" marT="63500" marB="6350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029200"/>
            <a:ext cx="11064240" cy="1051560"/>
          </a:xfrm>
          <a:prstGeom prst="roundRect">
            <a:avLst>
              <a:gd name="adj" fmla="val 6957"/>
            </a:avLst>
          </a:prstGeom>
          <a:solidFill>
            <a:schemeClr val="bg2"/>
          </a:solidFill>
          <a:ln w="12700">
            <a:solidFill>
              <a:schemeClr val="bg2"/>
            </a:solidFill>
            <a:prstDash val="solid"/>
          </a:ln>
        </p:spPr>
      </p:sp>
      <p:sp>
        <p:nvSpPr>
          <p:cNvPr id="7" name="Text 3"/>
          <p:cNvSpPr txBox="1"/>
          <p:nvPr/>
        </p:nvSpPr>
        <p:spPr>
          <a:xfrm>
            <a:off x="777240" y="5138928"/>
            <a:ext cx="10607040" cy="868680"/>
          </a:xfrm>
          <a:prstGeom prst="rect">
            <a:avLst/>
          </a:prstGeom>
          <a:noFill/>
          <a:ln/>
        </p:spPr>
        <p:txBody>
          <a:bodyPr wrap="square" lIns="0" tIns="0" rIns="0" bIns="0" rtlCol="0" anchor="ctr"/>
          <a:lstStyle/>
          <a:p>
            <a:pPr indent="0" marL="0">
              <a:buNone/>
            </a:pPr>
            <a:r>
              <a:rPr lang="en-US" sz="1600" b="1" dirty="0">
                <a:solidFill>
                  <a:schemeClr val="tx1"/>
                </a:solidFill>
              </a:rPr>
              <a:t>Android's 16 KB move matches Google's measurements: faster launches and boot, slightly more memory. 2 MB pages stay opt-in because they can waste up to 2 MB per allocation.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3 · WHAT IF</a:t>
            </a:r>
            <a:endParaRPr lang="en-US" sz="1200" dirty="0"/>
          </a:p>
        </p:txBody>
      </p:sp>
      <p:sp>
        <p:nvSpPr>
          <p:cNvPr id="3" name="Text 0"/>
          <p:cNvSpPr/>
          <p:nvPr>
            <p:ph idx="100"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Model versus reality: our gains are upper bounds</a:t>
            </a:r>
            <a:endParaRPr lang="en-US" sz="3000" dirty="0"/>
          </a:p>
        </p:txBody>
      </p:sp>
      <p:sp>
        <p:nvSpPr>
          <p:cNvPr id="5" name="Text 2"/>
          <p:cNvSpPr txBox="1"/>
          <p:nvPr/>
        </p:nvSpPr>
        <p:spPr>
          <a:xfrm>
            <a:off x="548640" y="1645920"/>
            <a:ext cx="5120640" cy="914400"/>
          </a:xfrm>
          <a:prstGeom prst="rect">
            <a:avLst/>
          </a:prstGeom>
          <a:noFill/>
          <a:ln/>
        </p:spPr>
        <p:txBody>
          <a:bodyPr wrap="square" lIns="0" tIns="0" rIns="0" bIns="0" rtlCol="0" anchor="t"/>
          <a:lstStyle/>
          <a:p>
            <a:pPr indent="0" marL="0">
              <a:buNone/>
            </a:pPr>
            <a:r>
              <a:rPr lang="en-US" sz="7200" b="1" dirty="0">
                <a:solidFill>
                  <a:schemeClr val="accent1"/>
                </a:solidFill>
                <a:latin typeface="Cambria" pitchFamily="34" charset="0"/>
                <a:ea typeface="Cambria" pitchFamily="34" charset="-122"/>
                <a:cs typeface="Cambria" pitchFamily="34" charset="-120"/>
              </a:rPr>
              <a:t>72%</a:t>
            </a:r>
            <a:endParaRPr lang="en-US" sz="7200" dirty="0"/>
          </a:p>
        </p:txBody>
      </p:sp>
      <p:sp>
        <p:nvSpPr>
          <p:cNvPr id="6" name="Text 3"/>
          <p:cNvSpPr txBox="1"/>
          <p:nvPr/>
        </p:nvSpPr>
        <p:spPr>
          <a:xfrm>
            <a:off x="548640" y="2788920"/>
            <a:ext cx="5120640" cy="822960"/>
          </a:xfrm>
          <a:prstGeom prst="rect">
            <a:avLst/>
          </a:prstGeom>
          <a:noFill/>
          <a:ln/>
        </p:spPr>
        <p:txBody>
          <a:bodyPr wrap="square" lIns="0" tIns="0" rIns="0" bIns="0" rtlCol="0" anchor="t"/>
          <a:lstStyle/>
          <a:p>
            <a:pPr indent="0" marL="0">
              <a:buNone/>
            </a:pPr>
            <a:r>
              <a:rPr lang="en-US" sz="1500" dirty="0">
                <a:solidFill>
                  <a:schemeClr val="tx1"/>
                </a:solidFill>
              </a:rPr>
              <a:t>lower latency for x86-64 switching to a hashed table, in our model</a:t>
            </a:r>
            <a:endParaRPr lang="en-US" sz="1500" dirty="0"/>
          </a:p>
        </p:txBody>
      </p:sp>
      <p:sp>
        <p:nvSpPr>
          <p:cNvPr id="7" name="Text 4"/>
          <p:cNvSpPr txBox="1"/>
          <p:nvPr/>
        </p:nvSpPr>
        <p:spPr>
          <a:xfrm>
            <a:off x="6309360" y="1645920"/>
            <a:ext cx="5303520" cy="914400"/>
          </a:xfrm>
          <a:prstGeom prst="rect">
            <a:avLst/>
          </a:prstGeom>
          <a:noFill/>
          <a:ln/>
        </p:spPr>
        <p:txBody>
          <a:bodyPr wrap="square" lIns="0" tIns="0" rIns="0" bIns="0" rtlCol="0" anchor="t"/>
          <a:lstStyle/>
          <a:p>
            <a:pPr indent="0" marL="0">
              <a:buNone/>
            </a:pPr>
            <a:r>
              <a:rPr lang="en-US" sz="7200" b="1" dirty="0">
                <a:solidFill>
                  <a:schemeClr val="tx1"/>
                </a:solidFill>
                <a:latin typeface="Cambria" pitchFamily="34" charset="0"/>
                <a:ea typeface="Cambria" pitchFamily="34" charset="-122"/>
                <a:cs typeface="Cambria" pitchFamily="34" charset="-120"/>
              </a:rPr>
              <a:t>1–27%</a:t>
            </a:r>
            <a:endParaRPr lang="en-US" sz="7200" dirty="0"/>
          </a:p>
        </p:txBody>
      </p:sp>
      <p:sp>
        <p:nvSpPr>
          <p:cNvPr id="8" name="Text 5"/>
          <p:cNvSpPr txBox="1"/>
          <p:nvPr/>
        </p:nvSpPr>
        <p:spPr>
          <a:xfrm>
            <a:off x="6309360" y="2788920"/>
            <a:ext cx="5303520" cy="822960"/>
          </a:xfrm>
          <a:prstGeom prst="rect">
            <a:avLst/>
          </a:prstGeom>
          <a:noFill/>
          <a:ln/>
        </p:spPr>
        <p:txBody>
          <a:bodyPr wrap="square" lIns="0" tIns="0" rIns="0" bIns="0" rtlCol="0" anchor="t"/>
          <a:lstStyle/>
          <a:p>
            <a:pPr indent="0" marL="0">
              <a:buNone/>
            </a:pPr>
            <a:r>
              <a:rPr lang="en-US" sz="1500" dirty="0">
                <a:solidFill>
                  <a:schemeClr val="tx1"/>
                </a:solidFill>
              </a:rPr>
              <a:t>shorter runtimes measured for an optimized hashed table on real x86-64 (Yaniv and Tsafrir, 2016)</a:t>
            </a:r>
            <a:endParaRPr lang="en-US" sz="1500" dirty="0"/>
          </a:p>
        </p:txBody>
      </p:sp>
      <p:sp>
        <p:nvSpPr>
          <p:cNvPr id="9" name="Shape 6"/>
          <p:cNvSpPr/>
          <p:nvPr/>
        </p:nvSpPr>
        <p:spPr>
          <a:xfrm>
            <a:off x="548640" y="3977640"/>
            <a:ext cx="11064240" cy="2103120"/>
          </a:xfrm>
          <a:prstGeom prst="roundRect">
            <a:avLst>
              <a:gd name="adj" fmla="val 3478"/>
            </a:avLst>
          </a:prstGeom>
          <a:solidFill>
            <a:schemeClr val="bg2"/>
          </a:solidFill>
          <a:ln w="12700">
            <a:solidFill>
              <a:schemeClr val="bg2"/>
            </a:solidFill>
            <a:prstDash val="solid"/>
          </a:ln>
        </p:spPr>
      </p:sp>
      <p:sp>
        <p:nvSpPr>
          <p:cNvPr id="10" name="Text 7"/>
          <p:cNvSpPr txBox="1"/>
          <p:nvPr/>
        </p:nvSpPr>
        <p:spPr>
          <a:xfrm>
            <a:off x="777240" y="4206240"/>
            <a:ext cx="10607040" cy="17373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2"/>
                </a:solidFill>
              </a:rPr>
              <a:t>Real CPUs have page-walk caches: most misses cost one or two reads, not four.</a:t>
            </a:r>
            <a:endParaRPr lang="en-US" sz="1700" dirty="0"/>
          </a:p>
          <a:p>
            <a:pPr marL="203200" indent="-203200">
              <a:spcAft>
                <a:spcPts val="800"/>
              </a:spcAft>
              <a:buSzPct val="100000"/>
              <a:buChar char="•"/>
            </a:pPr>
            <a:r>
              <a:rPr lang="en-US" sz="1700" dirty="0">
                <a:solidFill>
                  <a:schemeClr val="tx2"/>
                </a:solidFill>
              </a:rPr>
              <a:t>Our model has no caches and charges every read the full 100 cycles, so it overstates the radix penalty.</a:t>
            </a:r>
            <a:endParaRPr lang="en-US" sz="1700" dirty="0"/>
          </a:p>
          <a:p>
            <a:pPr marL="203200" indent="-203200">
              <a:spcAft>
                <a:spcPts val="800"/>
              </a:spcAft>
              <a:buSzPct val="100000"/>
              <a:buChar char="•"/>
            </a:pPr>
            <a:r>
              <a:rPr lang="en-US" sz="1700" dirty="0">
                <a:solidFill>
                  <a:schemeClr val="tx2"/>
                </a:solidFill>
              </a:rPr>
              <a:t>Same direction, smaller size: treat the what-if latency gains as upper bounds; the memory costs hold.</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548640"/>
            <a:ext cx="10698480" cy="365760"/>
          </a:xfrm>
          <a:prstGeom prst="rect">
            <a:avLst/>
          </a:prstGeom>
          <a:noFill/>
          <a:ln/>
        </p:spPr>
        <p:txBody>
          <a:bodyPr wrap="square" lIns="0" tIns="0" rIns="0" bIns="0" rtlCol="0" anchor="t"/>
          <a:lstStyle/>
          <a:p>
            <a:pPr indent="0" marL="0">
              <a:buNone/>
            </a:pPr>
            <a:r>
              <a:rPr lang="en-US" sz="1400" b="1" spc="200" kern="0" dirty="0">
                <a:solidFill>
                  <a:srgbClr val="F0A35E"/>
                </a:solidFill>
              </a:rPr>
              <a:t>CONCLUSIONS</a:t>
            </a:r>
            <a:endParaRPr lang="en-US" sz="1400" dirty="0"/>
          </a:p>
        </p:txBody>
      </p:sp>
      <p:sp>
        <p:nvSpPr>
          <p:cNvPr id="3" name="Text 1"/>
          <p:cNvSpPr txBox="1"/>
          <p:nvPr/>
        </p:nvSpPr>
        <p:spPr>
          <a:xfrm>
            <a:off x="731520" y="960120"/>
            <a:ext cx="10698480" cy="10058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Every table trades memory for reads, and the CPU picks the table</a:t>
            </a:r>
            <a:endParaRPr lang="en-US" sz="3200" dirty="0"/>
          </a:p>
        </p:txBody>
      </p:sp>
      <p:sp>
        <p:nvSpPr>
          <p:cNvPr id="4" name="Text 2"/>
          <p:cNvSpPr txBox="1"/>
          <p:nvPr/>
        </p:nvSpPr>
        <p:spPr>
          <a:xfrm>
            <a:off x="731520" y="2240280"/>
            <a:ext cx="10698480" cy="2651760"/>
          </a:xfrm>
          <a:prstGeom prst="rect">
            <a:avLst/>
          </a:prstGeom>
          <a:noFill/>
          <a:ln/>
        </p:spPr>
        <p:txBody>
          <a:bodyPr wrap="square" lIns="0" tIns="0" rIns="0" bIns="0" rtlCol="0" anchor="t"/>
          <a:lstStyle/>
          <a:p>
            <a:pPr marL="203200" indent="-203200">
              <a:spcAft>
                <a:spcPts val="1000"/>
              </a:spcAft>
              <a:buSzPct val="100000"/>
              <a:buChar char="•"/>
            </a:pPr>
            <a:r>
              <a:rPr lang="en-US" sz="1800" dirty="0">
                <a:solidFill>
                  <a:srgbClr val="E4E8ED"/>
                </a:solidFill>
              </a:rPr>
              <a:t>Comparison: single-level is fastest but huge; multi-level is tiny but reads every level; hashed is the best balance.</a:t>
            </a:r>
            <a:endParaRPr lang="en-US" sz="1800" dirty="0"/>
          </a:p>
          <a:p>
            <a:pPr marL="203200" indent="-203200">
              <a:spcAft>
                <a:spcPts val="1000"/>
              </a:spcAft>
              <a:buSzPct val="100000"/>
              <a:buChar char="•"/>
            </a:pPr>
            <a:r>
              <a:rPr lang="en-US" sz="1800" dirty="0">
                <a:solidFill>
                  <a:srgbClr val="E4E8ED"/>
                </a:solidFill>
              </a:rPr>
              <a:t>OS study: Windows, Linux, macOS and Android all use the radix tree their CPU walks; their real choice is page size.</a:t>
            </a:r>
            <a:endParaRPr lang="en-US" sz="1800" dirty="0"/>
          </a:p>
          <a:p>
            <a:pPr marL="203200" indent="-203200">
              <a:spcAft>
                <a:spcPts val="1000"/>
              </a:spcAft>
              <a:buSzPct val="100000"/>
              <a:buChar char="•"/>
            </a:pPr>
            <a:r>
              <a:rPr lang="en-US" sz="1800" dirty="0">
                <a:solidFill>
                  <a:srgbClr val="E4E8ED"/>
                </a:solidFill>
              </a:rPr>
              <a:t>What if: other organizations cut modelled latency but multiply memory, and need new hardware outside POWER.</a:t>
            </a:r>
            <a:endParaRPr lang="en-US" sz="1800" dirty="0"/>
          </a:p>
          <a:p>
            <a:pPr marL="203200" indent="-203200">
              <a:spcAft>
                <a:spcPts val="1000"/>
              </a:spcAft>
              <a:buSzPct val="100000"/>
              <a:buChar char="•"/>
            </a:pPr>
            <a:r>
              <a:rPr lang="en-US" sz="1800" dirty="0">
                <a:solidFill>
                  <a:srgbClr val="E4E8ED"/>
                </a:solidFill>
              </a:rPr>
              <a:t>Page size is the lever an OS really has; Android's move to 16 KB is that trade-off in practice.</a:t>
            </a:r>
            <a:endParaRPr lang="en-US" sz="1800" dirty="0"/>
          </a:p>
        </p:txBody>
      </p:sp>
      <p:sp>
        <p:nvSpPr>
          <p:cNvPr id="5" name="Text 3"/>
          <p:cNvSpPr txBox="1"/>
          <p:nvPr/>
        </p:nvSpPr>
        <p:spPr>
          <a:xfrm>
            <a:off x="731520" y="4983480"/>
            <a:ext cx="10698480" cy="320040"/>
          </a:xfrm>
          <a:prstGeom prst="rect">
            <a:avLst/>
          </a:prstGeom>
          <a:noFill/>
          <a:ln/>
        </p:spPr>
        <p:txBody>
          <a:bodyPr wrap="square" lIns="0" tIns="0" rIns="0" bIns="0" rtlCol="0" anchor="t"/>
          <a:lstStyle/>
          <a:p>
            <a:pPr indent="0" marL="0">
              <a:buNone/>
            </a:pPr>
            <a:r>
              <a:rPr lang="en-US" sz="1200" b="1" spc="200" kern="0" dirty="0">
                <a:solidFill>
                  <a:srgbClr val="F0A35E"/>
                </a:solidFill>
              </a:rPr>
              <a:t>LIMITS AND NEXT STEPS</a:t>
            </a:r>
            <a:endParaRPr lang="en-US" sz="1200" dirty="0"/>
          </a:p>
        </p:txBody>
      </p:sp>
      <p:sp>
        <p:nvSpPr>
          <p:cNvPr id="6" name="Text 4"/>
          <p:cNvSpPr txBox="1"/>
          <p:nvPr/>
        </p:nvSpPr>
        <p:spPr>
          <a:xfrm>
            <a:off x="731520" y="5349240"/>
            <a:ext cx="10698480" cy="731520"/>
          </a:xfrm>
          <a:prstGeom prst="rect">
            <a:avLst/>
          </a:prstGeom>
          <a:noFill/>
          <a:ln/>
        </p:spPr>
        <p:txBody>
          <a:bodyPr wrap="square" lIns="0" tIns="0" rIns="0" bIns="0" rtlCol="0" anchor="t"/>
          <a:lstStyle/>
          <a:p>
            <a:pPr indent="0" marL="0">
              <a:buNone/>
            </a:pPr>
            <a:r>
              <a:rPr lang="en-US" sz="1500" dirty="0">
                <a:solidFill>
                  <a:srgbClr val="C9D1DB"/>
                </a:solidFill>
              </a:rPr>
              <a:t>Modelled latency, synthetic traces, no page-walk caches. Next: add a page-walk cache, implement ECPT or FPT from Review 1, replay real traces.</a:t>
            </a:r>
            <a:endParaRPr lang="en-US" sz="1500" dirty="0"/>
          </a:p>
        </p:txBody>
      </p:sp>
      <p:sp>
        <p:nvSpPr>
          <p:cNvPr id="8" name="Text 0"/>
          <p:cNvSpPr/>
          <p:nvPr>
            <p:ph idx="100" type="title" hasCustomPrompt="1"/>
          </p:nvPr>
        </p:nvSpPr>
        <p:spPr>
          <a:xfrm>
            <a:off x="731520" y="1371600"/>
            <a:ext cx="10698480" cy="1828800"/>
          </a:xfrm>
          <a:prstGeom prst="rect">
            <a:avLst/>
          </a:prstGeom>
          <a:noFill/>
          <a:ln/>
        </p:spPr>
        <p:txBody>
          <a:bodyPr wrap="square" lIns="0" tIns="0" rIns="0" bIns="0" rtlCol="0" anchor="t"/>
          <a:lstStyle/>
          <a:p>
            <a:pPr algn="l" indent="0" marL="0">
              <a:buNone/>
            </a:pPr>
            <a:endParaRPr lang="en-US" sz="4000" dirty="0"/>
          </a:p>
        </p:txBody>
      </p:sp>
    </p:spTree>
  </p:cSld>
  <p:clrMapOvr>
    <a:masterClrMapping/>
  </p:clrMapOvr>
</p:sld>
</file>

<file path=ppt/theme/theme1.xml><?xml version="1.0" encoding="utf-8"?>
<a:theme xmlns:a="http://schemas.openxmlformats.org/drawingml/2006/main" name="Paging Study">
  <a:themeElements>
    <a:clrScheme name="Paging Study">
      <a:dk1>
        <a:srgbClr val="16202E"/>
      </a:dk1>
      <a:lt1>
        <a:srgbClr val="FFFFFF"/>
      </a:lt1>
      <a:dk2>
        <a:srgbClr val="4A5460"/>
      </a:dk2>
      <a:lt2>
        <a:srgbClr val="F2F4F7"/>
      </a:lt2>
      <a:accent1>
        <a:srgbClr val="B44D14"/>
      </a:accent1>
      <a:accent2>
        <a:srgbClr val="2A78D6"/>
      </a:accent2>
      <a:accent3>
        <a:srgbClr val="1BAF7A"/>
      </a:accent3>
      <a:accent4>
        <a:srgbClr val="EDA100"/>
      </a:accent4>
      <a:accent5>
        <a:srgbClr val="EB6834"/>
      </a:accent5>
      <a:accent6>
        <a:srgbClr val="6250D6"/>
      </a:accent6>
      <a:hlink>
        <a:srgbClr val="2A78D6"/>
      </a:hlink>
      <a:folHlink>
        <a:srgbClr val="6250D6"/>
      </a:folHlink>
    </a:clrScheme>
    <a:fontScheme name="Paging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Analysis of Traditional and Modern Memory Translation Architectures</dc:title>
  <dc:subject>PptxGenJS Presentation</dc:subject>
  <dc:creator>Akhilesh Regmi, Swayam Raj Pandey, Aamarsh Raj Shakya</dc:creator>
  <cp:lastModifiedBy>Akhilesh Regmi, Swayam Raj Pandey, Aamarsh Raj Shakya</cp:lastModifiedBy>
  <cp:revision>1</cp:revision>
  <dcterms:created xsi:type="dcterms:W3CDTF">2026-10-19T08:30:14Z</dcterms:created>
  <dcterms:modified xsi:type="dcterms:W3CDTF">2026-10-19T08:30:14Z</dcterms:modified>
</cp:coreProperties>
</file>