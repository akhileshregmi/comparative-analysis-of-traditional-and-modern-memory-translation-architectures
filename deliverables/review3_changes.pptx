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82eaf78-b95d-96ff-432e-a4fc1e4d71f4}">
          <p14:sldIdLst>
            <p14:sldId id="256"/>
          </p14:sldIdLst>
        </p14:section>
        <p14:section name="What we added" id="{cd6be5d1-ab66-ee0d-d153-06ec52517aed}">
          <p14:sldIdLst>
            <p14:sldId id="257"/>
            <p14:sldId id="258"/>
            <p14:sldId id="259"/>
          </p14:sldIdLst>
        </p14:section>
        <p14:section name="The demo" id="{3cb1c43a-0ae7-9be8-f760-ddf6ef4ee5c3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Changes and next" id="{da23c5f3-cbdc-9c3e-021e-eca1a1cc3bd2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4A5460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4A5460"/>
                </a:solidFill>
                <a:latin typeface="+mn-lt"/>
              </a:rPr>
              <a:t>Page-table reads for the same 192 accesses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Page-table reads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620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Both on</c:v>
                  </c:pt>
                  <c:pt idx="1">
                    <c:v>Large pages off</c:v>
                  </c:pt>
                  <c:pt idx="2">
                    <c:v>Walk cache off</c:v>
                  </c:pt>
                  <c:pt idx="3">
                    <c:v>Both off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201</c:v>
                </c:pt>
                <c:pt idx="1">
                  <c:v>327</c:v>
                </c:pt>
                <c:pt idx="2">
                  <c:v>775</c:v>
                </c:pt>
                <c:pt idx="3">
                  <c:v>1273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620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A54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3 covers only what changed since Review 2. The feedback was that the project read like a case study, so we built something that runs: a model of the exact page walk 64-bit Windows does, as a live page on our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answer to the feedback: instead of describing what Windows does, we model it and show it. The numbers at the bottom are what the demo shows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page is a demo, not a lesson: three scenario buttons on top, then the animated walk for the latest click. Hardware switches sit behind the gear button.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64-bit Windows layout on x86-64: 48 usable address bits, four 9-bit table indexes and a 12-bit offset. In the demo we call the tables Level 4 to Level 1 instead of their Intel names (PML4, PDPT, PD, PT).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in user space is mapped until it is touched. The first touch faults; Windows finds the address inside the heap, builds the missing tables, and the CPU repeats the walk.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Top: the next heap page. The page-walk cache remembers the upper levels, so only Level 1 is read. Bottom: the same page again. The TLB already holds the translation, so no table is read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buffer is allocated with large pages, so its Level 2 entry maps 2 MB directly and the walk stops there. Turning large pages off in the Hardware menu shows the full four-level walk for the same address.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tree grows as you click. Orange is the latest walk, blue the levels the walk cache skipped. Only tables with a used entry exist, which is why a four-level tree beats a flat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switches are on the page, so this can be shown live. With the walk cache off, every TLB miss reads all four levels; with large pages off, the buffer needs 4 KB pages and an extra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hides the detail, but it is all there: each entry the CPU read, its address, its 64-bit value and the flag bits that decided the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runs in plain Python inside Streamlit, so deployment is still just pushing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these in order on the live site. Reset first if anything is already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rgbClr val="16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868680"/>
            <a:ext cx="7772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rgbClr val="F2A65A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371600"/>
            <a:ext cx="106070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0"/>
                </a:solidFill>
              </a:rPr>
              <a:t>Review 3 · Windows x64 paging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65A"/>
                </a:solidFill>
              </a:rPr>
              <a:t>OPERATING SYSTEMS COURSE PROJECT · REVIEW 3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37160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new: Windows x64 paging, live on our site</a:t>
            </a:r>
            <a:endParaRPr lang="en-US" sz="4000" dirty="0"/>
          </a:p>
        </p:txBody>
      </p:sp>
      <p:sp>
        <p:nvSpPr>
          <p:cNvPr id="4" name="Logo card"/>
          <p:cNvSpPr/>
          <p:nvPr/>
        </p:nvSpPr>
        <p:spPr>
          <a:xfrm>
            <a:off x="8732520" y="457200"/>
            <a:ext cx="2788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Logo" descr="Vellore Institute of Technolog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0" y="530352"/>
            <a:ext cx="2606040" cy="700430"/>
          </a:xfrm>
          <a:prstGeom prst="rect">
            <a:avLst/>
          </a:prstGeom>
        </p:spPr>
      </p:pic>
      <p:sp>
        <p:nvSpPr>
          <p:cNvPr id="6" name="Subtitle"/>
          <p:cNvSpPr txBox="1"/>
          <p:nvPr/>
        </p:nvSpPr>
        <p:spPr>
          <a:xfrm>
            <a:off x="685800" y="3246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1DC"/>
                </a:solidFill>
              </a:rPr>
              <a:t>Only the changes since Review 2: a working model of the real four-level page walk that Windows runs on every memory access, turned into a click-and-watch demo.</a:t>
            </a:r>
            <a:endParaRPr lang="en-US" sz="1800" dirty="0"/>
          </a:p>
        </p:txBody>
      </p:sp>
      <p:sp>
        <p:nvSpPr>
          <p:cNvPr id="7" name="Team"/>
          <p:cNvSpPr txBox="1"/>
          <p:nvPr/>
        </p:nvSpPr>
        <p:spPr>
          <a:xfrm>
            <a:off x="685800" y="45262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Akhilesh Regmi   24BCE2934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Swayam Raj Pandey   24BCE2933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Aamarsh Raj Shakya   24BDS0449</a:t>
            </a:r>
            <a:endParaRPr lang="en-US" sz="1600" dirty="0"/>
          </a:p>
        </p:txBody>
      </p:sp>
      <p:sp>
        <p:nvSpPr>
          <p:cNvPr id="8" name="Guide label"/>
          <p:cNvSpPr txBox="1"/>
          <p:nvPr/>
        </p:nvSpPr>
        <p:spPr>
          <a:xfrm>
            <a:off x="6766560" y="4526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65A"/>
                </a:solidFill>
              </a:rPr>
              <a:t>UNDER THE GUIDANCE OF</a:t>
            </a:r>
            <a:endParaRPr lang="en-US" sz="1200" dirty="0"/>
          </a:p>
        </p:txBody>
      </p:sp>
      <p:sp>
        <p:nvSpPr>
          <p:cNvPr id="9" name="Guide"/>
          <p:cNvSpPr txBox="1"/>
          <p:nvPr/>
        </p:nvSpPr>
        <p:spPr>
          <a:xfrm>
            <a:off x="6766560" y="4892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Prof. Manivannan P</a:t>
            </a:r>
            <a:endParaRPr lang="en-US" sz="1800" dirty="0"/>
          </a:p>
        </p:txBody>
      </p:sp>
      <p:sp>
        <p:nvSpPr>
          <p:cNvPr id="10" name="Disclaimer"/>
          <p:cNvSpPr txBox="1"/>
          <p:nvPr/>
        </p:nvSpPr>
        <p:spPr>
          <a:xfrm>
            <a:off x="685800" y="6172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0"/>
                </a:solidFill>
              </a:rPr>
              <a:t>Physical addresses are chosen by the simulator; cycles are modelled, not measured.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REVIEW 3 · OVERVIEW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case study to a working demo</a:t>
            </a:r>
            <a:endParaRPr lang="en-US" sz="3200" dirty="0"/>
          </a:p>
        </p:txBody>
      </p:sp>
      <p:sp>
        <p:nvSpPr>
          <p:cNvPr id="4" name="Feedback card"/>
          <p:cNvSpPr/>
          <p:nvPr/>
        </p:nvSpPr>
        <p:spPr>
          <a:xfrm>
            <a:off x="548640" y="1691640"/>
            <a:ext cx="420624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Feedback label"/>
          <p:cNvSpPr txBox="1"/>
          <p:nvPr/>
        </p:nvSpPr>
        <p:spPr>
          <a:xfrm>
            <a:off x="82296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REVIEW 2 FEEDBACK</a:t>
            </a:r>
            <a:endParaRPr lang="en-US" sz="1200" dirty="0"/>
          </a:p>
        </p:txBody>
      </p:sp>
      <p:sp>
        <p:nvSpPr>
          <p:cNvPr id="6" name="Feedback"/>
          <p:cNvSpPr txBox="1"/>
          <p:nvPr/>
        </p:nvSpPr>
        <p:spPr>
          <a:xfrm>
            <a:off x="822960" y="23317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“It is more like a case study than a project.”</a:t>
            </a:r>
            <a:endParaRPr lang="en-US" sz="2400" dirty="0"/>
          </a:p>
        </p:txBody>
      </p:sp>
      <p:sp>
        <p:nvSpPr>
          <p:cNvPr id="7" name="Arrow"/>
          <p:cNvSpPr/>
          <p:nvPr/>
        </p:nvSpPr>
        <p:spPr>
          <a:xfrm>
            <a:off x="4983480" y="2788920"/>
            <a:ext cx="640080" cy="45720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Answer card"/>
          <p:cNvSpPr/>
          <p:nvPr/>
        </p:nvSpPr>
        <p:spPr>
          <a:xfrm>
            <a:off x="5852160" y="1691640"/>
            <a:ext cx="576072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Answer label"/>
          <p:cNvSpPr txBox="1"/>
          <p:nvPr/>
        </p:nvSpPr>
        <p:spPr>
          <a:xfrm>
            <a:off x="6126480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WHAT WE BUILT</a:t>
            </a:r>
            <a:endParaRPr lang="en-US" sz="1200" dirty="0"/>
          </a:p>
        </p:txBody>
      </p:sp>
      <p:sp>
        <p:nvSpPr>
          <p:cNvPr id="10" name="Answer"/>
          <p:cNvSpPr txBox="1"/>
          <p:nvPr/>
        </p:nvSpPr>
        <p:spPr>
          <a:xfrm>
            <a:off x="6126480" y="2286000"/>
            <a:ext cx="5303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 new page on our site: Windows x64 paging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 working model of the real four-level walk, its entry bits and its faults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One click per scenario; the walk animates level by level</a:t>
            </a:r>
            <a:endParaRPr lang="en-US" sz="1700" dirty="0"/>
          </a:p>
        </p:txBody>
      </p:sp>
      <p:sp>
        <p:nvSpPr>
          <p:cNvPr id="11" name="Levels value"/>
          <p:cNvSpPr txBox="1"/>
          <p:nvPr/>
        </p:nvSpPr>
        <p:spPr>
          <a:xfrm>
            <a:off x="548640" y="47548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levels</a:t>
            </a:r>
            <a:endParaRPr lang="en-US" sz="4000" dirty="0"/>
          </a:p>
        </p:txBody>
      </p:sp>
      <p:sp>
        <p:nvSpPr>
          <p:cNvPr id="12" name="Levels label"/>
          <p:cNvSpPr txBox="1"/>
          <p:nvPr/>
        </p:nvSpPr>
        <p:spPr>
          <a:xfrm>
            <a:off x="548640" y="54681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walked on every TLB miss, as on any 64-bit PC</a:t>
            </a:r>
            <a:endParaRPr lang="en-US" sz="1400" dirty="0"/>
          </a:p>
        </p:txBody>
      </p:sp>
      <p:sp>
        <p:nvSpPr>
          <p:cNvPr id="13" name="Scenarios value"/>
          <p:cNvSpPr txBox="1"/>
          <p:nvPr/>
        </p:nvSpPr>
        <p:spPr>
          <a:xfrm>
            <a:off x="4343400" y="47548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Scenarios label"/>
          <p:cNvSpPr txBox="1"/>
          <p:nvPr/>
        </p:nvSpPr>
        <p:spPr>
          <a:xfrm>
            <a:off x="4343400" y="54681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one-click scenarios: page fault, TLB hit, large page</a:t>
            </a:r>
            <a:endParaRPr lang="en-US" sz="1400" dirty="0"/>
          </a:p>
        </p:txBody>
      </p:sp>
      <p:sp>
        <p:nvSpPr>
          <p:cNvPr id="15" name="Memory value"/>
          <p:cNvSpPr txBox="1"/>
          <p:nvPr/>
        </p:nvSpPr>
        <p:spPr>
          <a:xfrm>
            <a:off x="8138160" y="47548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KB</a:t>
            </a:r>
            <a:endParaRPr lang="en-US" sz="4000" dirty="0"/>
          </a:p>
        </p:txBody>
      </p:sp>
      <p:sp>
        <p:nvSpPr>
          <p:cNvPr id="16" name="Memory label"/>
          <p:cNvSpPr txBox="1"/>
          <p:nvPr/>
        </p:nvSpPr>
        <p:spPr>
          <a:xfrm>
            <a:off x="8138160" y="54681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 page tables, against 512 GB for one flat table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THE SITE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page: Windows x64 paging</a:t>
            </a:r>
            <a:endParaRPr lang="en-US" sz="3200" dirty="0"/>
          </a:p>
        </p:txBody>
      </p:sp>
      <p:pic>
        <p:nvPicPr>
          <p:cNvPr id="4" name="Menu" descr="Site menu with the new Windows x64 paging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2194560" cy="27432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3AE">
                <a:alpha val="35000"/>
              </a:srgbClr>
            </a:outerShdw>
          </a:effectLst>
        </p:spPr>
      </p:pic>
      <p:sp>
        <p:nvSpPr>
          <p:cNvPr id="5" name="Menu note"/>
          <p:cNvSpPr txBox="1"/>
          <p:nvPr/>
        </p:nvSpPr>
        <p:spPr>
          <a:xfrm>
            <a:off x="548640" y="466344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Our site now has four pages. The new one sits between the Simulator and the Analysis.</a:t>
            </a:r>
            <a:endParaRPr lang="en-US" sz="1400" dirty="0"/>
          </a:p>
        </p:txBody>
      </p:sp>
      <p:pic>
        <p:nvPicPr>
          <p:cNvPr id="6" name="Page" descr="The new page after a click: three scenario buttons and the animated wal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645920"/>
            <a:ext cx="7740149" cy="45720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3AE">
                <a:alpha val="3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address picks one entry in four tables</a:t>
            </a:r>
            <a:endParaRPr lang="en-US" sz="3200" dirty="0"/>
          </a:p>
        </p:txBody>
      </p:sp>
      <p:sp>
        <p:nvSpPr>
          <p:cNvPr id="4" name="Unused field"/>
          <p:cNvSpPr/>
          <p:nvPr/>
        </p:nvSpPr>
        <p:spPr>
          <a:xfrm>
            <a:off x="548640" y="2103120"/>
            <a:ext cx="2729484" cy="960120"/>
          </a:xfrm>
          <a:prstGeom prst="rect">
            <a:avLst/>
          </a:prstGeom>
          <a:solidFill>
            <a:srgbClr val="D9DE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Unused label"/>
          <p:cNvSpPr txBox="1"/>
          <p:nvPr/>
        </p:nvSpPr>
        <p:spPr>
          <a:xfrm>
            <a:off x="548640" y="2103120"/>
            <a:ext cx="27294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Unused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16 bits</a:t>
            </a:r>
            <a:endParaRPr lang="en-US" sz="1400" dirty="0"/>
          </a:p>
        </p:txBody>
      </p:sp>
      <p:sp>
        <p:nvSpPr>
          <p:cNvPr id="6" name="Unused note"/>
          <p:cNvSpPr txBox="1"/>
          <p:nvPr/>
        </p:nvSpPr>
        <p:spPr>
          <a:xfrm>
            <a:off x="548640" y="3127248"/>
            <a:ext cx="27294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copies of bit 47</a:t>
            </a:r>
            <a:endParaRPr lang="en-US" sz="1200" dirty="0"/>
          </a:p>
        </p:txBody>
      </p:sp>
      <p:sp>
        <p:nvSpPr>
          <p:cNvPr id="7" name="Level 4 field"/>
          <p:cNvSpPr/>
          <p:nvPr/>
        </p:nvSpPr>
        <p:spPr>
          <a:xfrm>
            <a:off x="3314700" y="2103120"/>
            <a:ext cx="1519333" cy="960120"/>
          </a:xfrm>
          <a:prstGeom prst="rect">
            <a:avLst/>
          </a:prstGeom>
          <a:solidFill>
            <a:srgbClr val="CFE0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Level 4 label"/>
          <p:cNvSpPr txBox="1"/>
          <p:nvPr/>
        </p:nvSpPr>
        <p:spPr>
          <a:xfrm>
            <a:off x="3314700" y="2103120"/>
            <a:ext cx="151933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Level 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 bits</a:t>
            </a:r>
            <a:endParaRPr lang="en-US" sz="1400" dirty="0"/>
          </a:p>
        </p:txBody>
      </p:sp>
      <p:sp>
        <p:nvSpPr>
          <p:cNvPr id="9" name="Level 4 note"/>
          <p:cNvSpPr txBox="1"/>
          <p:nvPr/>
        </p:nvSpPr>
        <p:spPr>
          <a:xfrm>
            <a:off x="3314700" y="3127248"/>
            <a:ext cx="151933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 of 512</a:t>
            </a:r>
            <a:endParaRPr lang="en-US" sz="1200" dirty="0"/>
          </a:p>
        </p:txBody>
      </p:sp>
      <p:sp>
        <p:nvSpPr>
          <p:cNvPr id="10" name="Level 3 field"/>
          <p:cNvSpPr/>
          <p:nvPr/>
        </p:nvSpPr>
        <p:spPr>
          <a:xfrm>
            <a:off x="4870609" y="2103120"/>
            <a:ext cx="1519333" cy="960120"/>
          </a:xfrm>
          <a:prstGeom prst="rect">
            <a:avLst/>
          </a:prstGeom>
          <a:solidFill>
            <a:srgbClr val="CDEF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Level 3 label"/>
          <p:cNvSpPr txBox="1"/>
          <p:nvPr/>
        </p:nvSpPr>
        <p:spPr>
          <a:xfrm>
            <a:off x="4870609" y="2103120"/>
            <a:ext cx="151933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Level 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 bits</a:t>
            </a:r>
            <a:endParaRPr lang="en-US" sz="1400" dirty="0"/>
          </a:p>
        </p:txBody>
      </p:sp>
      <p:sp>
        <p:nvSpPr>
          <p:cNvPr id="12" name="Level 3 note"/>
          <p:cNvSpPr txBox="1"/>
          <p:nvPr/>
        </p:nvSpPr>
        <p:spPr>
          <a:xfrm>
            <a:off x="4870609" y="3127248"/>
            <a:ext cx="151933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 of 512</a:t>
            </a:r>
            <a:endParaRPr lang="en-US" sz="1200" dirty="0"/>
          </a:p>
        </p:txBody>
      </p:sp>
      <p:sp>
        <p:nvSpPr>
          <p:cNvPr id="13" name="Level 2 field"/>
          <p:cNvSpPr/>
          <p:nvPr/>
        </p:nvSpPr>
        <p:spPr>
          <a:xfrm>
            <a:off x="6426517" y="2103120"/>
            <a:ext cx="1519333" cy="960120"/>
          </a:xfrm>
          <a:prstGeom prst="rect">
            <a:avLst/>
          </a:prstGeom>
          <a:solidFill>
            <a:srgbClr val="FBE9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Level 2 label"/>
          <p:cNvSpPr txBox="1"/>
          <p:nvPr/>
        </p:nvSpPr>
        <p:spPr>
          <a:xfrm>
            <a:off x="6426517" y="2103120"/>
            <a:ext cx="151933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Level 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 bits</a:t>
            </a:r>
            <a:endParaRPr lang="en-US" sz="1400" dirty="0"/>
          </a:p>
        </p:txBody>
      </p:sp>
      <p:sp>
        <p:nvSpPr>
          <p:cNvPr id="15" name="Level 2 note"/>
          <p:cNvSpPr txBox="1"/>
          <p:nvPr/>
        </p:nvSpPr>
        <p:spPr>
          <a:xfrm>
            <a:off x="6426517" y="3127248"/>
            <a:ext cx="151933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 of 512</a:t>
            </a:r>
            <a:endParaRPr lang="en-US" sz="1200" dirty="0"/>
          </a:p>
        </p:txBody>
      </p:sp>
      <p:sp>
        <p:nvSpPr>
          <p:cNvPr id="16" name="Level 1 field"/>
          <p:cNvSpPr/>
          <p:nvPr/>
        </p:nvSpPr>
        <p:spPr>
          <a:xfrm>
            <a:off x="7982426" y="2103120"/>
            <a:ext cx="1519333" cy="960120"/>
          </a:xfrm>
          <a:prstGeom prst="rect">
            <a:avLst/>
          </a:prstGeom>
          <a:solidFill>
            <a:srgbClr val="F9D5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Level 1 label"/>
          <p:cNvSpPr txBox="1"/>
          <p:nvPr/>
        </p:nvSpPr>
        <p:spPr>
          <a:xfrm>
            <a:off x="7982426" y="2103120"/>
            <a:ext cx="151933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Level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 bits</a:t>
            </a:r>
            <a:endParaRPr lang="en-US" sz="1400" dirty="0"/>
          </a:p>
        </p:txBody>
      </p:sp>
      <p:sp>
        <p:nvSpPr>
          <p:cNvPr id="18" name="Level 1 note"/>
          <p:cNvSpPr txBox="1"/>
          <p:nvPr/>
        </p:nvSpPr>
        <p:spPr>
          <a:xfrm>
            <a:off x="7982426" y="3127248"/>
            <a:ext cx="151933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 of 512</a:t>
            </a:r>
            <a:endParaRPr lang="en-US" sz="1200" dirty="0"/>
          </a:p>
        </p:txBody>
      </p:sp>
      <p:sp>
        <p:nvSpPr>
          <p:cNvPr id="19" name="Offset field"/>
          <p:cNvSpPr/>
          <p:nvPr/>
        </p:nvSpPr>
        <p:spPr>
          <a:xfrm>
            <a:off x="9538335" y="2103120"/>
            <a:ext cx="2037969" cy="960120"/>
          </a:xfrm>
          <a:prstGeom prst="rect">
            <a:avLst/>
          </a:prstGeom>
          <a:solidFill>
            <a:srgbClr val="E2DC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Offset label"/>
          <p:cNvSpPr txBox="1"/>
          <p:nvPr/>
        </p:nvSpPr>
        <p:spPr>
          <a:xfrm>
            <a:off x="9538335" y="2103120"/>
            <a:ext cx="203796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Offset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12 bits</a:t>
            </a:r>
            <a:endParaRPr lang="en-US" sz="1400" dirty="0"/>
          </a:p>
        </p:txBody>
      </p:sp>
      <p:sp>
        <p:nvSpPr>
          <p:cNvPr id="21" name="Offset note"/>
          <p:cNvSpPr txBox="1"/>
          <p:nvPr/>
        </p:nvSpPr>
        <p:spPr>
          <a:xfrm>
            <a:off x="9538335" y="3127248"/>
            <a:ext cx="20379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byte in 4 KB page</a:t>
            </a:r>
            <a:endParaRPr lang="en-US" sz="1200" dirty="0"/>
          </a:p>
        </p:txBody>
      </p:sp>
      <p:sp>
        <p:nvSpPr>
          <p:cNvPr id="22" name="Address label"/>
          <p:cNvSpPr txBox="1"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64-bit virtual address</a:t>
            </a:r>
            <a:endParaRPr lang="en-US" sz="1400" dirty="0"/>
          </a:p>
        </p:txBody>
      </p:sp>
      <p:sp>
        <p:nvSpPr>
          <p:cNvPr id="23" name="Fact card 1"/>
          <p:cNvSpPr/>
          <p:nvPr/>
        </p:nvSpPr>
        <p:spPr>
          <a:xfrm>
            <a:off x="548640" y="3977640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Fact dot 1"/>
          <p:cNvSpPr/>
          <p:nvPr/>
        </p:nvSpPr>
        <p:spPr>
          <a:xfrm>
            <a:off x="822960" y="425196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Fact 1"/>
          <p:cNvSpPr txBox="1"/>
          <p:nvPr/>
        </p:nvSpPr>
        <p:spPr>
          <a:xfrm>
            <a:off x="822960" y="4572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table is 512 entries of 8 bytes: exactly one 4 KB page.</a:t>
            </a:r>
            <a:endParaRPr lang="en-US" sz="1500" dirty="0"/>
          </a:p>
        </p:txBody>
      </p:sp>
      <p:sp>
        <p:nvSpPr>
          <p:cNvPr id="26" name="Fact card 2"/>
          <p:cNvSpPr/>
          <p:nvPr/>
        </p:nvSpPr>
        <p:spPr>
          <a:xfrm>
            <a:off x="4297680" y="3977640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Fact dot 2"/>
          <p:cNvSpPr/>
          <p:nvPr/>
        </p:nvSpPr>
        <p:spPr>
          <a:xfrm>
            <a:off x="4572000" y="4251960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Fact 2"/>
          <p:cNvSpPr txBox="1"/>
          <p:nvPr/>
        </p:nvSpPr>
        <p:spPr>
          <a:xfrm>
            <a:off x="4572000" y="4572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register (CR3) points to the top table. Windows switches it on every process switch.</a:t>
            </a:r>
            <a:endParaRPr lang="en-US" sz="1500" dirty="0"/>
          </a:p>
        </p:txBody>
      </p:sp>
      <p:sp>
        <p:nvSpPr>
          <p:cNvPr id="29" name="Fact card 3"/>
          <p:cNvSpPr/>
          <p:nvPr/>
        </p:nvSpPr>
        <p:spPr>
          <a:xfrm>
            <a:off x="8046720" y="3977640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Fact dot 3"/>
          <p:cNvSpPr/>
          <p:nvPr/>
        </p:nvSpPr>
        <p:spPr>
          <a:xfrm>
            <a:off x="8321040" y="4251960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Fact 3"/>
          <p:cNvSpPr txBox="1"/>
          <p:nvPr/>
        </p:nvSpPr>
        <p:spPr>
          <a:xfrm>
            <a:off x="8321040" y="4572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Level 4 entry covers 512 GB, Level 3 1 GB, Level 2 2 MB, Level 1 one 4 KB page.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SCENARIO · NEW HEAP PAGE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touch: Windows builds the missing tables</a:t>
            </a:r>
            <a:endParaRPr lang="en-US" sz="3200" dirty="0"/>
          </a:p>
        </p:txBody>
      </p:sp>
      <p:pic>
        <p:nvPicPr>
          <p:cNvPr id="4" name="walk_fault.png" descr="Animated walk for a first touch: every level built by Window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11064240" cy="330604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3AE">
                <a:alpha val="35000"/>
              </a:srgbClr>
            </a:outerShdw>
          </a:effectLst>
        </p:spPr>
      </p:pic>
      <p:sp>
        <p:nvSpPr>
          <p:cNvPr id="5" name="Point dot 1"/>
          <p:cNvSpPr/>
          <p:nvPr/>
        </p:nvSpPr>
        <p:spPr>
          <a:xfrm>
            <a:off x="548640" y="5376672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Point 1"/>
          <p:cNvSpPr txBox="1"/>
          <p:nvPr/>
        </p:nvSpPr>
        <p:spPr>
          <a:xfrm>
            <a:off x="868680" y="52578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Amber cards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were empty: the page fault made Windows fill them in.</a:t>
            </a:r>
            <a:endParaRPr lang="en-US" sz="1400" dirty="0"/>
          </a:p>
        </p:txBody>
      </p:sp>
      <p:sp>
        <p:nvSpPr>
          <p:cNvPr id="7" name="Point dot 2"/>
          <p:cNvSpPr/>
          <p:nvPr/>
        </p:nvSpPr>
        <p:spPr>
          <a:xfrm>
            <a:off x="4297680" y="537667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oint 2"/>
          <p:cNvSpPr txBox="1"/>
          <p:nvPr/>
        </p:nvSpPr>
        <p:spPr>
          <a:xfrm>
            <a:off x="4617720" y="52578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 memory reads, 501 cycles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failed read, then the repeated four-level walk.</a:t>
            </a:r>
            <a:endParaRPr lang="en-US" sz="1400" dirty="0"/>
          </a:p>
        </p:txBody>
      </p:sp>
      <p:sp>
        <p:nvSpPr>
          <p:cNvPr id="9" name="Point dot 3"/>
          <p:cNvSpPr/>
          <p:nvPr/>
        </p:nvSpPr>
        <p:spPr>
          <a:xfrm>
            <a:off x="8046720" y="5376672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Point 3"/>
          <p:cNvSpPr txBox="1"/>
          <p:nvPr/>
        </p:nvSpPr>
        <p:spPr>
          <a:xfrm>
            <a:off x="8366760" y="52578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Then it is cached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next access nearby is much cheaper (next slide).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SCENARIOS · NEW HEAP PAGE AGAIN, SAME PAGE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Caches make the next access cheap</a:t>
            </a:r>
            <a:endParaRPr lang="en-US" sz="3200" dirty="0"/>
          </a:p>
        </p:txBody>
      </p:sp>
      <p:pic>
        <p:nvPicPr>
          <p:cNvPr id="4" name="walk_pwc.png" descr="Walk where the page-walk cache skips three leve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7497470" cy="22402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3AE">
                <a:alpha val="35000"/>
              </a:srgbClr>
            </a:outerShdw>
          </a:effectLst>
        </p:spPr>
      </p:pic>
      <p:pic>
        <p:nvPicPr>
          <p:cNvPr id="5" name="walk_tlb.png" descr="TLB hit: no levels re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60520"/>
            <a:ext cx="7680960" cy="221095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3AE">
                <a:alpha val="35000"/>
              </a:srgbClr>
            </a:outerShdw>
          </a:effectLst>
        </p:spPr>
      </p:pic>
      <p:sp>
        <p:nvSpPr>
          <p:cNvPr id="6" name="PWC value"/>
          <p:cNvSpPr txBox="1"/>
          <p:nvPr/>
        </p:nvSpPr>
        <p:spPr>
          <a:xfrm>
            <a:off x="8778240" y="19659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reads</a:t>
            </a:r>
            <a:endParaRPr lang="en-US" sz="4000" dirty="0"/>
          </a:p>
        </p:txBody>
      </p:sp>
      <p:sp>
        <p:nvSpPr>
          <p:cNvPr id="7" name="PWC label"/>
          <p:cNvSpPr txBox="1"/>
          <p:nvPr/>
        </p:nvSpPr>
        <p:spPr>
          <a:xfrm>
            <a:off x="8778240" y="26791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Page-walk cache (blue) skips Levels 4, 3 and 2</a:t>
            </a:r>
            <a:endParaRPr lang="en-US" sz="1400" dirty="0"/>
          </a:p>
        </p:txBody>
      </p:sp>
      <p:sp>
        <p:nvSpPr>
          <p:cNvPr id="8" name="TLB value"/>
          <p:cNvSpPr txBox="1"/>
          <p:nvPr/>
        </p:nvSpPr>
        <p:spPr>
          <a:xfrm>
            <a:off x="8778240" y="43434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reads</a:t>
            </a:r>
            <a:endParaRPr lang="en-US" sz="4000" dirty="0"/>
          </a:p>
        </p:txBody>
      </p:sp>
      <p:sp>
        <p:nvSpPr>
          <p:cNvPr id="9" name="TLB label"/>
          <p:cNvSpPr txBox="1"/>
          <p:nvPr/>
        </p:nvSpPr>
        <p:spPr>
          <a:xfrm>
            <a:off x="8778240" y="50566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TLB hit: the translation itself was cached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SCENARIO · LARGE PAGE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pages end the walk one level early</a:t>
            </a:r>
            <a:endParaRPr lang="en-US" sz="3200" dirty="0"/>
          </a:p>
        </p:txBody>
      </p:sp>
      <p:pic>
        <p:nvPicPr>
          <p:cNvPr id="4" name="walk_large.png" descr="Walk ending at Level 2 for a 2 MB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11064240" cy="330604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3AE">
                <a:alpha val="35000"/>
              </a:srgbClr>
            </a:outerShdw>
          </a:effectLst>
        </p:spPr>
      </p:pic>
      <p:sp>
        <p:nvSpPr>
          <p:cNvPr id="5" name="Point dot 1"/>
          <p:cNvSpPr/>
          <p:nvPr/>
        </p:nvSpPr>
        <p:spPr>
          <a:xfrm>
            <a:off x="548640" y="5376672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Point 1"/>
          <p:cNvSpPr txBox="1"/>
          <p:nvPr/>
        </p:nvSpPr>
        <p:spPr>
          <a:xfrm>
            <a:off x="868680" y="52578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 MB per entry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Level 2 points straight at a 2 MB page.</a:t>
            </a:r>
            <a:endParaRPr lang="en-US" sz="1400" dirty="0"/>
          </a:p>
        </p:txBody>
      </p:sp>
      <p:sp>
        <p:nvSpPr>
          <p:cNvPr id="7" name="Point dot 2"/>
          <p:cNvSpPr/>
          <p:nvPr/>
        </p:nvSpPr>
        <p:spPr>
          <a:xfrm>
            <a:off x="4297680" y="5376672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Point 2"/>
          <p:cNvSpPr txBox="1"/>
          <p:nvPr/>
        </p:nvSpPr>
        <p:spPr>
          <a:xfrm>
            <a:off x="4617720" y="52578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Level 1 skipped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read fewer, and one 2 MB TLB entry covers 512 small pages.</a:t>
            </a:r>
            <a:endParaRPr lang="en-US" sz="1400" dirty="0"/>
          </a:p>
        </p:txBody>
      </p:sp>
      <p:sp>
        <p:nvSpPr>
          <p:cNvPr id="9" name="Point dot 3"/>
          <p:cNvSpPr/>
          <p:nvPr/>
        </p:nvSpPr>
        <p:spPr>
          <a:xfrm>
            <a:off x="8046720" y="537667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oint 3"/>
          <p:cNvSpPr txBox="1"/>
          <p:nvPr/>
        </p:nvSpPr>
        <p:spPr>
          <a:xfrm>
            <a:off x="8366760" y="52578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Not free on Windows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needs the 'Lock pages in memory' privilege.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THE LIVE TREE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tables exist only where memory is used</a:t>
            </a:r>
            <a:endParaRPr lang="en-US" sz="3200" dirty="0"/>
          </a:p>
        </p:txBody>
      </p:sp>
      <p:pic>
        <p:nvPicPr>
          <p:cNvPr id="4" name="tree.png" descr="The process's page-table tree after a few scenari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7863840" cy="426214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3AE">
                <a:alpha val="35000"/>
              </a:srgbClr>
            </a:outerShdw>
          </a:effectLst>
        </p:spPr>
      </p:pic>
      <p:sp>
        <p:nvSpPr>
          <p:cNvPr id="5" name="Tables value"/>
          <p:cNvSpPr txBox="1"/>
          <p:nvPr/>
        </p:nvSpPr>
        <p:spPr>
          <a:xfrm>
            <a:off x="8915400" y="1828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tables</a:t>
            </a:r>
            <a:endParaRPr lang="en-US" sz="4000" dirty="0"/>
          </a:p>
        </p:txBody>
      </p:sp>
      <p:sp>
        <p:nvSpPr>
          <p:cNvPr id="6" name="Tables label"/>
          <p:cNvSpPr txBox="1"/>
          <p:nvPr/>
        </p:nvSpPr>
        <p:spPr>
          <a:xfrm>
            <a:off x="8915400" y="25420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Level 4 to Level 1, built on demand</a:t>
            </a:r>
            <a:endParaRPr lang="en-US" sz="1400" dirty="0"/>
          </a:p>
        </p:txBody>
      </p:sp>
      <p:sp>
        <p:nvSpPr>
          <p:cNvPr id="7" name="Used value"/>
          <p:cNvSpPr txBox="1"/>
          <p:nvPr/>
        </p:nvSpPr>
        <p:spPr>
          <a:xfrm>
            <a:off x="8915400" y="32918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KB</a:t>
            </a:r>
            <a:endParaRPr lang="en-US" sz="4000" dirty="0"/>
          </a:p>
        </p:txBody>
      </p:sp>
      <p:sp>
        <p:nvSpPr>
          <p:cNvPr id="8" name="Used label"/>
          <p:cNvSpPr txBox="1"/>
          <p:nvPr/>
        </p:nvSpPr>
        <p:spPr>
          <a:xfrm>
            <a:off x="8915400" y="40050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 page-table memory for this process</a:t>
            </a:r>
            <a:endParaRPr lang="en-US" sz="1400" dirty="0"/>
          </a:p>
        </p:txBody>
      </p:sp>
      <p:sp>
        <p:nvSpPr>
          <p:cNvPr id="9" name="Flat value"/>
          <p:cNvSpPr txBox="1"/>
          <p:nvPr/>
        </p:nvSpPr>
        <p:spPr>
          <a:xfrm>
            <a:off x="8915400" y="47548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 GB</a:t>
            </a:r>
            <a:endParaRPr lang="en-US" sz="4000" dirty="0"/>
          </a:p>
        </p:txBody>
      </p:sp>
      <p:sp>
        <p:nvSpPr>
          <p:cNvPr id="10" name="Flat label"/>
          <p:cNvSpPr txBox="1"/>
          <p:nvPr/>
        </p:nvSpPr>
        <p:spPr>
          <a:xfrm>
            <a:off x="8915400" y="54681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for a single flat table over the same address space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HARDWARE SWITCHES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walk cache cuts page-table reads by 4x</a:t>
            </a:r>
            <a:endParaRPr lang="en-US" sz="3200" dirty="0"/>
          </a:p>
        </p:txBody>
      </p:sp>
      <p:graphicFrame>
        <p:nvGraphicFramePr>
          <p:cNvPr id="4" name="Reads chart" descr=""/>
          <p:cNvGraphicFramePr/>
          <p:nvPr/>
        </p:nvGraphicFramePr>
        <p:xfrm>
          <a:off x="548640" y="1645920"/>
          <a:ext cx="78638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5" name="Hardware menu" descr="The Hardware menu with the switch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1737360"/>
            <a:ext cx="2194560" cy="241160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3AE">
                <a:alpha val="35000"/>
              </a:srgbClr>
            </a:outerShdw>
          </a:effectLst>
        </p:spPr>
      </p:pic>
      <p:sp>
        <p:nvSpPr>
          <p:cNvPr id="6" name="Chart note"/>
          <p:cNvSpPr txBox="1"/>
          <p:nvPr/>
        </p:nvSpPr>
        <p:spPr>
          <a:xfrm>
            <a:off x="8915400" y="443484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192 accesses: 64 heap pages written twice, plus 64 touches of the 4 MB buffer. Model output, not a hardware measurement.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FOR QUESTIONS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entry bits are one click away</a:t>
            </a:r>
            <a:endParaRPr lang="en-US" sz="3200" dirty="0"/>
          </a:p>
        </p:txBody>
      </p:sp>
      <p:pic>
        <p:nvPicPr>
          <p:cNvPr id="4" name="entries.png" descr="Expanded section with each entry read and its flag bi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7132320" cy="41842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3AE">
                <a:alpha val="35000"/>
              </a:srgbClr>
            </a:outerShdw>
          </a:effectLst>
        </p:spPr>
      </p:pic>
      <p:graphicFrame>
        <p:nvGraphicFramePr>
          <p:cNvPr id="11" name="Fla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0" y="1691640"/>
          <a:ext cx="34747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651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Bit</a:t>
                      </a:r>
                      <a:endParaRPr lang="en-US" sz="14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4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02E"/>
                          </a:solidFill>
                        </a:rPr>
                        <a:t>P</a:t>
                      </a:r>
                      <a:endParaRPr lang="en-US" sz="14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present</a:t>
                      </a:r>
                      <a:endParaRPr lang="en-US" sz="14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02E"/>
                          </a:solidFill>
                        </a:rPr>
                        <a:t>R/W</a:t>
                      </a:r>
                      <a:endParaRPr lang="en-US" sz="14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writable</a:t>
                      </a:r>
                      <a:endParaRPr lang="en-US" sz="14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02E"/>
                          </a:solidFill>
                        </a:rPr>
                        <a:t>U/S</a:t>
                      </a:r>
                      <a:endParaRPr lang="en-US" sz="14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user mode allowed</a:t>
                      </a:r>
                      <a:endParaRPr lang="en-US" sz="14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02E"/>
                          </a:solidFill>
                        </a:rPr>
                        <a:t>A</a:t>
                      </a:r>
                      <a:endParaRPr lang="en-US" sz="14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accessed</a:t>
                      </a:r>
                      <a:endParaRPr lang="en-US" sz="14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02E"/>
                          </a:solidFill>
                        </a:rPr>
                        <a:t>D</a:t>
                      </a:r>
                      <a:endParaRPr lang="en-US" sz="14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dirty (written)</a:t>
                      </a:r>
                      <a:endParaRPr lang="en-US" sz="14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02E"/>
                          </a:solidFill>
                        </a:rPr>
                        <a:t>PS</a:t>
                      </a:r>
                      <a:endParaRPr lang="en-US" sz="14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large page</a:t>
                      </a:r>
                      <a:endParaRPr lang="en-US" sz="14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02E"/>
                          </a:solidFill>
                        </a:rPr>
                        <a:t>NX</a:t>
                      </a:r>
                      <a:endParaRPr lang="en-US" sz="14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no execute</a:t>
                      </a:r>
                      <a:endParaRPr lang="en-US" sz="14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WinDbg note"/>
          <p:cNvSpPr txBox="1"/>
          <p:nvPr/>
        </p:nvSpPr>
        <p:spPr>
          <a:xfrm>
            <a:off x="8138160" y="49834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Same format WinDbg's !pte prints on a real Windows machine.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WHAT CHANGED IN THE CODE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new files, three updated, tests removed</a:t>
            </a:r>
            <a:endParaRPr lang="en-US" sz="3200" dirty="0"/>
          </a:p>
        </p:txBody>
      </p:sp>
      <p:graphicFrame>
        <p:nvGraphicFramePr>
          <p:cNvPr id="12" name="Chang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9494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97280"/>
                <a:gridCol w="39319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File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Change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02E"/>
                          </a:solidFill>
                        </a:rPr>
                        <a:t>paging/x64.py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7F5A"/>
                          </a:solidFill>
                        </a:rPr>
                        <a:t>New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Model of the four-level walk: entry bits, faults, large pages, TLB, walk cache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02E"/>
                          </a:solidFill>
                        </a:rPr>
                        <a:t>views/x64.py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7F5A"/>
                          </a:solidFill>
                        </a:rPr>
                        <a:t>New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The demo page: scenario buttons, animated walk, scores, detail sections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02E"/>
                          </a:solidFill>
                        </a:rPr>
                        <a:t>diagrams.py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A5460"/>
                          </a:solidFill>
                        </a:rPr>
                        <a:t>Updated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Draws the live page-table tree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02E"/>
                          </a:solidFill>
                        </a:rPr>
                        <a:t>app.py, README.md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A5460"/>
                          </a:solidFill>
                        </a:rPr>
                        <a:t>Updated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New page in the menu; docs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02E"/>
                          </a:solidFill>
                        </a:rPr>
                        <a:t>tests/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4D14"/>
                          </a:solidFill>
                        </a:rPr>
                        <a:t>Removed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</a:rPr>
                        <a:t>Not needed for the hosted app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Hosting card"/>
          <p:cNvSpPr/>
          <p:nvPr/>
        </p:nvSpPr>
        <p:spPr>
          <a:xfrm>
            <a:off x="7863840" y="1691640"/>
            <a:ext cx="3749040" cy="384048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Hosting label"/>
          <p:cNvSpPr txBox="1"/>
          <p:nvPr/>
        </p:nvSpPr>
        <p:spPr>
          <a:xfrm>
            <a:off x="813816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HOSTING</a:t>
            </a:r>
            <a:endParaRPr lang="en-US" sz="1200" dirty="0"/>
          </a:p>
        </p:txBody>
      </p:sp>
      <p:sp>
        <p:nvSpPr>
          <p:cNvPr id="7" name="Hosting points"/>
          <p:cNvSpPr txBox="1"/>
          <p:nvPr/>
        </p:nvSpPr>
        <p:spPr>
          <a:xfrm>
            <a:off x="8138160" y="228600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Streamlit Community Cloud: push to GitHub, pick app.py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environment variables or secrets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new packages, no extra backend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Each click is a few microseconds of Python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65A"/>
                </a:solidFill>
              </a:rPr>
              <a:t>LIVE DEMO · ABOUT ONE MINUTE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37160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order for the review</a:t>
            </a:r>
            <a:endParaRPr lang="en-US" sz="4000" dirty="0"/>
          </a:p>
        </p:txBody>
      </p:sp>
      <p:sp>
        <p:nvSpPr>
          <p:cNvPr id="4" name="Step dot 1"/>
          <p:cNvSpPr/>
          <p:nvPr/>
        </p:nvSpPr>
        <p:spPr>
          <a:xfrm>
            <a:off x="685800" y="2331720"/>
            <a:ext cx="502920" cy="50292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5" name="Step number 1"/>
          <p:cNvSpPr txBox="1"/>
          <p:nvPr/>
        </p:nvSpPr>
        <p:spPr>
          <a:xfrm>
            <a:off x="68580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E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tep 1"/>
          <p:cNvSpPr txBox="1"/>
          <p:nvPr/>
        </p:nvSpPr>
        <p:spPr>
          <a:xfrm>
            <a:off x="1371600" y="23317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New heap page: page fault, Windows builds the tables</a:t>
            </a:r>
            <a:endParaRPr lang="en-US" sz="1800" dirty="0"/>
          </a:p>
        </p:txBody>
      </p:sp>
      <p:sp>
        <p:nvSpPr>
          <p:cNvPr id="7" name="Step dot 2"/>
          <p:cNvSpPr/>
          <p:nvPr/>
        </p:nvSpPr>
        <p:spPr>
          <a:xfrm>
            <a:off x="685800" y="3108960"/>
            <a:ext cx="502920" cy="50292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8" name="Step number 2"/>
          <p:cNvSpPr txBox="1"/>
          <p:nvPr/>
        </p:nvSpPr>
        <p:spPr>
          <a:xfrm>
            <a:off x="6858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E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Step 2"/>
          <p:cNvSpPr txBox="1"/>
          <p:nvPr/>
        </p:nvSpPr>
        <p:spPr>
          <a:xfrm>
            <a:off x="1371600" y="3108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New heap page again: the walk cache skips three levels</a:t>
            </a:r>
            <a:endParaRPr lang="en-US" sz="1800" dirty="0"/>
          </a:p>
        </p:txBody>
      </p:sp>
      <p:sp>
        <p:nvSpPr>
          <p:cNvPr id="10" name="Step dot 3"/>
          <p:cNvSpPr/>
          <p:nvPr/>
        </p:nvSpPr>
        <p:spPr>
          <a:xfrm>
            <a:off x="685800" y="3886200"/>
            <a:ext cx="502920" cy="50292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1" name="Step number 3"/>
          <p:cNvSpPr txBox="1"/>
          <p:nvPr/>
        </p:nvSpPr>
        <p:spPr>
          <a:xfrm>
            <a:off x="68580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E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Step 3"/>
          <p:cNvSpPr txBox="1"/>
          <p:nvPr/>
        </p:nvSpPr>
        <p:spPr>
          <a:xfrm>
            <a:off x="1371600" y="38862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Same page: TLB hit, nothing read</a:t>
            </a:r>
            <a:endParaRPr lang="en-US" sz="1800" dirty="0"/>
          </a:p>
        </p:txBody>
      </p:sp>
      <p:sp>
        <p:nvSpPr>
          <p:cNvPr id="13" name="Step dot 4"/>
          <p:cNvSpPr/>
          <p:nvPr/>
        </p:nvSpPr>
        <p:spPr>
          <a:xfrm>
            <a:off x="685800" y="4663440"/>
            <a:ext cx="502920" cy="50292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4" name="Step number 4"/>
          <p:cNvSpPr txBox="1"/>
          <p:nvPr/>
        </p:nvSpPr>
        <p:spPr>
          <a:xfrm>
            <a:off x="68580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E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Step 4"/>
          <p:cNvSpPr txBox="1"/>
          <p:nvPr/>
        </p:nvSpPr>
        <p:spPr>
          <a:xfrm>
            <a:off x="1371600" y="46634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Large page: the walk ends at Level 2</a:t>
            </a:r>
            <a:endParaRPr lang="en-US" sz="1800" dirty="0"/>
          </a:p>
        </p:txBody>
      </p:sp>
      <p:sp>
        <p:nvSpPr>
          <p:cNvPr id="16" name="Step dot 5"/>
          <p:cNvSpPr/>
          <p:nvPr/>
        </p:nvSpPr>
        <p:spPr>
          <a:xfrm>
            <a:off x="685800" y="5440680"/>
            <a:ext cx="502920" cy="50292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7" name="Step number 5"/>
          <p:cNvSpPr txBox="1"/>
          <p:nvPr/>
        </p:nvSpPr>
        <p:spPr>
          <a:xfrm>
            <a:off x="685800" y="5440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E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Step 5"/>
          <p:cNvSpPr txBox="1"/>
          <p:nvPr/>
        </p:nvSpPr>
        <p:spPr>
          <a:xfrm>
            <a:off x="1371600" y="54406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Hardware: walk cache off, New heap page: all four levels read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ging Review 3">
  <a:themeElements>
    <a:clrScheme name="Paging Review 3">
      <a:dk1>
        <a:srgbClr val="16202E"/>
      </a:dk1>
      <a:lt1>
        <a:srgbClr val="FFFFFF"/>
      </a:lt1>
      <a:dk2>
        <a:srgbClr val="4A5460"/>
      </a:dk2>
      <a:lt2>
        <a:srgbClr val="F2F4F7"/>
      </a:lt2>
      <a:accent1>
        <a:srgbClr val="B44D14"/>
      </a:accent1>
      <a:accent2>
        <a:srgbClr val="2A78D6"/>
      </a:accent2>
      <a:accent3>
        <a:srgbClr val="1BAF7A"/>
      </a:accent3>
      <a:accent4>
        <a:srgbClr val="EDA100"/>
      </a:accent4>
      <a:accent5>
        <a:srgbClr val="EB6834"/>
      </a:accent5>
      <a:accent6>
        <a:srgbClr val="6250D6"/>
      </a:accent6>
      <a:hlink>
        <a:srgbClr val="2A78D6"/>
      </a:hlink>
      <a:folHlink>
        <a:srgbClr val="6250D6"/>
      </a:folHlink>
    </a:clrScheme>
    <a:fontScheme name="Paging Review 3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3: Windows x64 paging</dc:title>
  <dc:subject>PptxGenJS Presentation</dc:subject>
  <dc:creator>Akhilesh Regmi, Swayam Raj Pandey, Aamarsh Raj Shakya</dc:creator>
  <cp:lastModifiedBy>Akhilesh Regmi, Swayam Raj Pandey, Aamarsh Raj Shakya</cp:lastModifiedBy>
  <cp:revision>1</cp:revision>
  <dcterms:created xsi:type="dcterms:W3CDTF">2026-10-29T20:22:22Z</dcterms:created>
  <dcterms:modified xsi:type="dcterms:W3CDTF">2026-10-29T20:22:22Z</dcterms:modified>
</cp:coreProperties>
</file>